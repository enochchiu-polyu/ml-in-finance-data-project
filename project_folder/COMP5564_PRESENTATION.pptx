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Introduce yourself and state the course project topic: dual-task ML system for S&amp;P 500 stock price regression and cluster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problem: financial markets are hard to predict, classical methods are limited. ML enables combining price, volume, and NLP-derived sentiment. Introduce the 5 focal stocks and dataset.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dual-task design. Task 1 is supervised regression, Task 2 is unsupervised clustering. The key insight is that Task 2 feeds Task 1 through cluster-routed sentiment. Mention the two innovations: cluster news prediction and multi-horizon meta-signal.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7 feature categories. Emphasise the temporal decay mechanism: instead of hand-picking lag, we grid-search L and λ on validation set. The near-flat optimum region means the result is robust.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model selection. 4 families evaluated under identical temporal protocol. XGBoost selected because deep models overfit with small per-ticker samples. Optuna used for hyperparameter tuning with 50 Bayesian trials.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clustering methods compared. K-Means wins on composite score. DBSCAN has high silhouette but 9.3% noise means some stocks get no peer sentiment. PCA scatter shows clear cluster separability. K=6 chosen at elbow 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new report Section 3.5 in PPT form. Explain that 02B adds cluster context at both feature level and model level. The largest gain comes from cluster-specific specialization: MAE improves from 3.7405 to 2.5557 (31.68%). The blended setup keeps robustness while retaining this 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1: cluster news prediction. The key insight is treating clustering as an information routing mechanism. When a stock has no direct news, peer cluster sentiment fills the gap. AMZN and GOOG show the largest MAE reductions (46-47%) because they benefit most from peer intelligence. Mention the Chinese term: 聚類感知 (cluster-aware) and 情緒衰減 (sentiment decay).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2: multi-horizon meta-signal. The T+15 forecast acts as a directional confidence modifier for T+1. When horizons agree, conviction is amplified; when they disagree, it's suppressed. Learned Meta Ridge achieves Sharpe 8.10, beating buy-and-hold (6.09) with only -0.8% max drawdown.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all key results across three dimensions: regression accuracy, clustering quality, and trading utility. Highlight that AMZN/GOOG benefit most from cluster sentiment (46-47% MAE drop). The meta-signal beats buy-and-hold with Sharpe 8.10 and minimal drawdown.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equity curve comparison. The Learned Meta Ridge (green) shows the smoothest compounding and shallowest drawdown. Emphasise that even after transaction costs would reduce reported Sharpe, the directional advantage of multi-horizon combination remains clear.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limitations: no transaction costs, static clusters, bullish test window. For future work, highlight dynamic clustering and regime-adaptive decay as the most impactful. If asked about Hong Kong applicability, mention A/H share dynamics and regional sentiment sources.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Restate the core thesis: clustering as signal router. Summarise both innovations with numbers. Emphasise the dual evaluation: we measure both prediction accuracy AND trading utility, preventing metric-singleton optimisation that could mislead deployment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slide. Be prepared to answer about: transaction cost impact on Sharpe, why DBSCAN was rejected (noise ratio), how the meta-signal handles regime changes, and applicability to Hong Kong equities. Backup numbers are on screen for reference.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5303520"/>
            <a:ext cx="12191695" cy="54864"/>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0"/>
            <a:ext cx="12191695" cy="1371600"/>
          </a:xfrm>
          <a:prstGeom prst="rect">
            <a:avLst/>
          </a:prstGeom>
          <a:solidFill>
            <a:srgbClr val="2C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515600" cy="1463040"/>
          </a:xfrm>
          <a:prstGeom prst="rect">
            <a:avLst/>
          </a:prstGeom>
          <a:noFill/>
        </p:spPr>
        <p:txBody>
          <a:bodyPr wrap="square">
            <a:spAutoFit/>
          </a:bodyPr>
          <a:lstStyle/>
          <a:p>
            <a:pPr algn="l">
              <a:defRPr sz="4400" b="1">
                <a:solidFill>
                  <a:srgbClr val="FFFFFF"/>
                </a:solidFill>
                <a:latin typeface="Calibri"/>
              </a:defRPr>
            </a:pPr>
            <a:r>
              <a:t>Machine Learning in Finance</a:t>
            </a:r>
          </a:p>
        </p:txBody>
      </p:sp>
      <p:sp>
        <p:nvSpPr>
          <p:cNvPr id="5" name="TextBox 4"/>
          <p:cNvSpPr txBox="1"/>
          <p:nvPr/>
        </p:nvSpPr>
        <p:spPr>
          <a:xfrm>
            <a:off x="731520" y="2651760"/>
            <a:ext cx="10515600" cy="914400"/>
          </a:xfrm>
          <a:prstGeom prst="rect">
            <a:avLst/>
          </a:prstGeom>
          <a:noFill/>
        </p:spPr>
        <p:txBody>
          <a:bodyPr wrap="square">
            <a:spAutoFit/>
          </a:bodyPr>
          <a:lstStyle/>
          <a:p>
            <a:pPr algn="l">
              <a:defRPr sz="2800" b="0">
                <a:solidFill>
                  <a:srgbClr val="BBDDFF"/>
                </a:solidFill>
                <a:latin typeface="Calibri"/>
              </a:defRPr>
            </a:pPr>
            <a:r>
              <a:t>Stock Price Regression &amp; Cluster-Aware Sentiment Analysis</a:t>
            </a:r>
          </a:p>
        </p:txBody>
      </p:sp>
      <p:sp>
        <p:nvSpPr>
          <p:cNvPr id="6" name="Rectangle 5"/>
          <p:cNvSpPr/>
          <p:nvPr/>
        </p:nvSpPr>
        <p:spPr>
          <a:xfrm>
            <a:off x="731520" y="3840480"/>
            <a:ext cx="2743200"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14800"/>
            <a:ext cx="10058400" cy="457200"/>
          </a:xfrm>
          <a:prstGeom prst="rect">
            <a:avLst/>
          </a:prstGeom>
          <a:noFill/>
        </p:spPr>
        <p:txBody>
          <a:bodyPr wrap="square">
            <a:spAutoFit/>
          </a:bodyPr>
          <a:lstStyle/>
          <a:p>
            <a:pPr algn="l">
              <a:defRPr sz="1800" b="0">
                <a:solidFill>
                  <a:srgbClr val="99BBDD"/>
                </a:solidFill>
                <a:latin typeface="Calibri"/>
              </a:defRPr>
            </a:pPr>
            <a:r>
              <a:t>COMP5564 – ML in Finance  |  S&amp;P 500 Dual-Task Framework</a:t>
            </a:r>
          </a:p>
        </p:txBody>
      </p:sp>
      <p:sp>
        <p:nvSpPr>
          <p:cNvPr id="8" name="TextBox 7"/>
          <p:cNvSpPr txBox="1"/>
          <p:nvPr/>
        </p:nvSpPr>
        <p:spPr>
          <a:xfrm>
            <a:off x="731520" y="5669280"/>
            <a:ext cx="4572000" cy="365760"/>
          </a:xfrm>
          <a:prstGeom prst="rect">
            <a:avLst/>
          </a:prstGeom>
          <a:noFill/>
        </p:spPr>
        <p:txBody>
          <a:bodyPr wrap="square">
            <a:spAutoFit/>
          </a:bodyPr>
          <a:lstStyle/>
          <a:p>
            <a:pPr algn="l">
              <a:defRPr sz="2000" b="1">
                <a:solidFill>
                  <a:srgbClr val="FFFFFF"/>
                </a:solidFill>
                <a:latin typeface="Calibri"/>
              </a:defRPr>
            </a:pPr>
            <a:r>
              <a:t>CHIU Yee Lok  (25012923G)</a:t>
            </a:r>
          </a:p>
        </p:txBody>
      </p:sp>
      <p:sp>
        <p:nvSpPr>
          <p:cNvPr id="9" name="TextBox 8"/>
          <p:cNvSpPr txBox="1"/>
          <p:nvPr/>
        </p:nvSpPr>
        <p:spPr>
          <a:xfrm>
            <a:off x="731520" y="6080760"/>
            <a:ext cx="4572000" cy="365760"/>
          </a:xfrm>
          <a:prstGeom prst="rect">
            <a:avLst/>
          </a:prstGeom>
          <a:noFill/>
        </p:spPr>
        <p:txBody>
          <a:bodyPr wrap="square">
            <a:spAutoFit/>
          </a:bodyPr>
          <a:lstStyle/>
          <a:p>
            <a:pPr algn="l">
              <a:defRPr sz="1600" b="0">
                <a:solidFill>
                  <a:srgbClr val="AAAAAA"/>
                </a:solidFill>
                <a:latin typeface="Calibri"/>
              </a:defRPr>
            </a:pPr>
            <a:r>
              <a:t>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Introduction &amp; Motivation</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943600" cy="5029200"/>
          </a:xfrm>
          <a:prstGeom prst="rect">
            <a:avLst/>
          </a:prstGeom>
          <a:noFill/>
        </p:spPr>
        <p:txBody>
          <a:bodyPr wrap="square">
            <a:spAutoFit/>
          </a:bodyPr>
          <a:lstStyle/>
          <a:p>
            <a:pPr>
              <a:spcBef>
                <a:spcPts val="400"/>
              </a:spcBef>
              <a:spcAft>
                <a:spcPts val="200"/>
              </a:spcAft>
            </a:pPr>
            <a:r>
              <a:rPr sz="1700">
                <a:solidFill>
                  <a:srgbClr val="2C2C2C"/>
                </a:solidFill>
                <a:latin typeface="Calibri"/>
              </a:rPr>
              <a:t>• S&amp;P 500 large-caps: abundant data, high news coverage, yet hard to predict</a:t>
            </a:r>
          </a:p>
          <a:p>
            <a:pPr>
              <a:spcBef>
                <a:spcPts val="400"/>
              </a:spcBef>
              <a:spcAft>
                <a:spcPts val="200"/>
              </a:spcAft>
            </a:pPr>
            <a:r>
              <a:rPr sz="1700">
                <a:solidFill>
                  <a:srgbClr val="2C2C2C"/>
                </a:solidFill>
                <a:latin typeface="Calibri"/>
              </a:rPr>
              <a:t>• Classical econometrics (ARIMA, GARCH) cannot capture nonlinear dynamics</a:t>
            </a:r>
          </a:p>
          <a:p>
            <a:pPr>
              <a:spcBef>
                <a:spcPts val="400"/>
              </a:spcBef>
              <a:spcAft>
                <a:spcPts val="200"/>
              </a:spcAft>
            </a:pPr>
            <a:r>
              <a:rPr sz="1700">
                <a:solidFill>
                  <a:srgbClr val="2C2C2C"/>
                </a:solidFill>
                <a:latin typeface="Calibri"/>
              </a:rPr>
              <a:t>• ML methods combine heterogeneous signals: OHLCV, sentiment, cross-sectional structure</a:t>
            </a:r>
          </a:p>
          <a:p>
            <a:pPr>
              <a:spcBef>
                <a:spcPts val="400"/>
              </a:spcBef>
              <a:spcAft>
                <a:spcPts val="200"/>
              </a:spcAft>
            </a:pPr>
            <a:r>
              <a:rPr sz="1700">
                <a:solidFill>
                  <a:srgbClr val="2C2C2C"/>
                </a:solidFill>
                <a:latin typeface="Calibri"/>
              </a:rPr>
              <a:t>• Focus on 5 mega-cap stocks: AAPL, AMZN, GOOG, MSFT, NVDA</a:t>
            </a:r>
          </a:p>
          <a:p>
            <a:pPr>
              <a:spcBef>
                <a:spcPts val="400"/>
              </a:spcBef>
              <a:spcAft>
                <a:spcPts val="200"/>
              </a:spcAft>
            </a:pPr>
            <a:r>
              <a:rPr sz="1700">
                <a:solidFill>
                  <a:srgbClr val="2C2C2C"/>
                </a:solidFill>
                <a:latin typeface="Calibri"/>
              </a:rPr>
              <a:t>• Key question: Can cluster-aware sentiment routing improve both accuracy and trading utility?</a:t>
            </a:r>
          </a:p>
        </p:txBody>
      </p:sp>
      <p:sp>
        <p:nvSpPr>
          <p:cNvPr id="6" name="Rectangle 5"/>
          <p:cNvSpPr/>
          <p:nvPr/>
        </p:nvSpPr>
        <p:spPr>
          <a:xfrm>
            <a:off x="6858000" y="1371600"/>
            <a:ext cx="475488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1463040"/>
            <a:ext cx="4389120" cy="457200"/>
          </a:xfrm>
          <a:prstGeom prst="rect">
            <a:avLst/>
          </a:prstGeom>
          <a:noFill/>
        </p:spPr>
        <p:txBody>
          <a:bodyPr wrap="square">
            <a:spAutoFit/>
          </a:bodyPr>
          <a:lstStyle/>
          <a:p>
            <a:pPr algn="l">
              <a:defRPr sz="1800" b="1">
                <a:solidFill>
                  <a:srgbClr val="1B3A5C"/>
                </a:solidFill>
                <a:latin typeface="Calibri"/>
              </a:defRPr>
            </a:pPr>
            <a:r>
              <a:t>Dataset Overview</a:t>
            </a:r>
          </a:p>
        </p:txBody>
      </p:sp>
      <p:sp>
        <p:nvSpPr>
          <p:cNvPr id="8" name="TextBox 7"/>
          <p:cNvSpPr txBox="1"/>
          <p:nvPr/>
        </p:nvSpPr>
        <p:spPr>
          <a:xfrm>
            <a:off x="7040880" y="2011680"/>
            <a:ext cx="4389120" cy="3200400"/>
          </a:xfrm>
          <a:prstGeom prst="rect">
            <a:avLst/>
          </a:prstGeom>
          <a:noFill/>
        </p:spPr>
        <p:txBody>
          <a:bodyPr wrap="square">
            <a:spAutoFit/>
          </a:bodyPr>
          <a:lstStyle/>
          <a:p>
            <a:pPr>
              <a:spcBef>
                <a:spcPts val="400"/>
              </a:spcBef>
              <a:spcAft>
                <a:spcPts val="200"/>
              </a:spcAft>
            </a:pPr>
            <a:r>
              <a:rPr sz="1500">
                <a:solidFill>
                  <a:srgbClr val="2C2C2C"/>
                </a:solidFill>
                <a:latin typeface="Calibri"/>
              </a:rPr>
              <a:t>• 505 S&amp;P 500 stocks (full universe)</a:t>
            </a:r>
          </a:p>
          <a:p>
            <a:pPr>
              <a:spcBef>
                <a:spcPts val="400"/>
              </a:spcBef>
              <a:spcAft>
                <a:spcPts val="200"/>
              </a:spcAft>
            </a:pPr>
            <a:r>
              <a:rPr sz="1500">
                <a:solidFill>
                  <a:srgbClr val="2C2C2C"/>
                </a:solidFill>
                <a:latin typeface="Calibri"/>
              </a:rPr>
              <a:t>• Daily OHLCV + multi-source news headlines</a:t>
            </a:r>
          </a:p>
          <a:p>
            <a:pPr>
              <a:spcBef>
                <a:spcPts val="400"/>
              </a:spcBef>
              <a:spcAft>
                <a:spcPts val="200"/>
              </a:spcAft>
            </a:pPr>
            <a:r>
              <a:rPr sz="1500">
                <a:solidFill>
                  <a:srgbClr val="2C2C2C"/>
                </a:solidFill>
                <a:latin typeface="Calibri"/>
              </a:rPr>
              <a:t>• 228 test samples per stock</a:t>
            </a:r>
          </a:p>
          <a:p>
            <a:pPr>
              <a:spcBef>
                <a:spcPts val="400"/>
              </a:spcBef>
              <a:spcAft>
                <a:spcPts val="200"/>
              </a:spcAft>
            </a:pPr>
            <a:r>
              <a:rPr sz="1500">
                <a:solidFill>
                  <a:srgbClr val="2C2C2C"/>
                </a:solidFill>
                <a:latin typeface="Calibri"/>
              </a:rPr>
              <a:t>• 70 / 15 / 15 temporal split</a:t>
            </a:r>
          </a:p>
          <a:p>
            <a:pPr>
              <a:spcBef>
                <a:spcPts val="400"/>
              </a:spcBef>
              <a:spcAft>
                <a:spcPts val="200"/>
              </a:spcAft>
            </a:pPr>
            <a:r>
              <a:rPr sz="1500">
                <a:solidFill>
                  <a:srgbClr val="2C2C2C"/>
                </a:solidFill>
                <a:latin typeface="Calibri"/>
              </a:rPr>
              <a:t>• Strict no-leakage: all features lagged ≥ 1 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Dual-Task Framework: Regression × Clustering</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530352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4937760" cy="457200"/>
          </a:xfrm>
          <a:prstGeom prst="rect">
            <a:avLst/>
          </a:prstGeom>
          <a:noFill/>
        </p:spPr>
        <p:txBody>
          <a:bodyPr wrap="square">
            <a:spAutoFit/>
          </a:bodyPr>
          <a:lstStyle/>
          <a:p>
            <a:pPr algn="l">
              <a:defRPr sz="2000" b="1">
                <a:solidFill>
                  <a:srgbClr val="1B3A5C"/>
                </a:solidFill>
                <a:latin typeface="Calibri"/>
              </a:defRPr>
            </a:pPr>
            <a:r>
              <a:t>Task 1 — Stock Price Regression</a:t>
            </a:r>
          </a:p>
        </p:txBody>
      </p:sp>
      <p:sp>
        <p:nvSpPr>
          <p:cNvPr id="7" name="TextBox 6"/>
          <p:cNvSpPr txBox="1"/>
          <p:nvPr/>
        </p:nvSpPr>
        <p:spPr>
          <a:xfrm>
            <a:off x="640080" y="1737360"/>
            <a:ext cx="4937760" cy="1645920"/>
          </a:xfrm>
          <a:prstGeom prst="rect">
            <a:avLst/>
          </a:prstGeom>
          <a:noFill/>
        </p:spPr>
        <p:txBody>
          <a:bodyPr wrap="square">
            <a:spAutoFit/>
          </a:bodyPr>
          <a:lstStyle/>
          <a:p>
            <a:pPr>
              <a:spcBef>
                <a:spcPts val="400"/>
              </a:spcBef>
              <a:spcAft>
                <a:spcPts val="200"/>
              </a:spcAft>
            </a:pPr>
            <a:r>
              <a:rPr sz="1500">
                <a:solidFill>
                  <a:srgbClr val="2C2C2C"/>
                </a:solidFill>
                <a:latin typeface="Calibri"/>
              </a:rPr>
              <a:t>• Predict next-day close price ŷ_{i,t+1}</a:t>
            </a:r>
          </a:p>
          <a:p>
            <a:pPr>
              <a:spcBef>
                <a:spcPts val="400"/>
              </a:spcBef>
              <a:spcAft>
                <a:spcPts val="200"/>
              </a:spcAft>
            </a:pPr>
            <a:r>
              <a:rPr sz="1500">
                <a:solidFill>
                  <a:srgbClr val="2C2C2C"/>
                </a:solidFill>
                <a:latin typeface="Calibri"/>
              </a:rPr>
              <a:t>• XGBoost with technical + sentiment features</a:t>
            </a:r>
          </a:p>
          <a:p>
            <a:pPr>
              <a:spcBef>
                <a:spcPts val="400"/>
              </a:spcBef>
              <a:spcAft>
                <a:spcPts val="200"/>
              </a:spcAft>
            </a:pPr>
            <a:r>
              <a:rPr sz="1500">
                <a:solidFill>
                  <a:srgbClr val="2C2C2C"/>
                </a:solidFill>
                <a:latin typeface="Calibri"/>
              </a:rPr>
              <a:t>• Evaluate: MAE, RMSE, R², Directional Hit Ratio</a:t>
            </a:r>
          </a:p>
        </p:txBody>
      </p:sp>
      <p:sp>
        <p:nvSpPr>
          <p:cNvPr id="8" name="Rectangle 7"/>
          <p:cNvSpPr/>
          <p:nvPr/>
        </p:nvSpPr>
        <p:spPr>
          <a:xfrm>
            <a:off x="6400800" y="1188720"/>
            <a:ext cx="5303520" cy="2286000"/>
          </a:xfrm>
          <a:prstGeom prst="rect">
            <a:avLst/>
          </a:prstGeom>
          <a:solidFill>
            <a:srgbClr val="FEF5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280160"/>
            <a:ext cx="4937760" cy="457200"/>
          </a:xfrm>
          <a:prstGeom prst="rect">
            <a:avLst/>
          </a:prstGeom>
          <a:noFill/>
        </p:spPr>
        <p:txBody>
          <a:bodyPr wrap="square">
            <a:spAutoFit/>
          </a:bodyPr>
          <a:lstStyle/>
          <a:p>
            <a:pPr algn="l">
              <a:defRPr sz="2000" b="1">
                <a:solidFill>
                  <a:srgbClr val="D4A01E"/>
                </a:solidFill>
                <a:latin typeface="Calibri"/>
              </a:defRPr>
            </a:pPr>
            <a:r>
              <a:t>Task 2 — Stock Clustering</a:t>
            </a:r>
          </a:p>
        </p:txBody>
      </p:sp>
      <p:sp>
        <p:nvSpPr>
          <p:cNvPr id="10" name="TextBox 9"/>
          <p:cNvSpPr txBox="1"/>
          <p:nvPr/>
        </p:nvSpPr>
        <p:spPr>
          <a:xfrm>
            <a:off x="6583680" y="1737360"/>
            <a:ext cx="4937760" cy="1645920"/>
          </a:xfrm>
          <a:prstGeom prst="rect">
            <a:avLst/>
          </a:prstGeom>
          <a:noFill/>
        </p:spPr>
        <p:txBody>
          <a:bodyPr wrap="square">
            <a:spAutoFit/>
          </a:bodyPr>
          <a:lstStyle/>
          <a:p>
            <a:pPr>
              <a:spcBef>
                <a:spcPts val="400"/>
              </a:spcBef>
              <a:spcAft>
                <a:spcPts val="200"/>
              </a:spcAft>
            </a:pPr>
            <a:r>
              <a:rPr sz="1500">
                <a:solidFill>
                  <a:srgbClr val="2C2C2C"/>
                </a:solidFill>
                <a:latin typeface="Calibri"/>
              </a:rPr>
              <a:t>• Partition 505 stocks into behavioural peer groups</a:t>
            </a:r>
          </a:p>
          <a:p>
            <a:pPr>
              <a:spcBef>
                <a:spcPts val="400"/>
              </a:spcBef>
              <a:spcAft>
                <a:spcPts val="200"/>
              </a:spcAft>
            </a:pPr>
            <a:r>
              <a:rPr sz="1500">
                <a:solidFill>
                  <a:srgbClr val="2C2C2C"/>
                </a:solidFill>
                <a:latin typeface="Calibri"/>
              </a:rPr>
              <a:t>• 6 methods: K-Means, Hierarchical, DBSCAN, GMM, AE+KM, t-SNE+KM</a:t>
            </a:r>
          </a:p>
          <a:p>
            <a:pPr>
              <a:spcBef>
                <a:spcPts val="400"/>
              </a:spcBef>
              <a:spcAft>
                <a:spcPts val="200"/>
              </a:spcAft>
            </a:pPr>
            <a:r>
              <a:rPr sz="1500">
                <a:solidFill>
                  <a:srgbClr val="2C2C2C"/>
                </a:solidFill>
                <a:latin typeface="Calibri"/>
              </a:rPr>
              <a:t>• Winner: K-Means (K=6), Composite Score = 0.577</a:t>
            </a:r>
          </a:p>
        </p:txBody>
      </p:sp>
      <p:sp>
        <p:nvSpPr>
          <p:cNvPr id="11" name="Rectangle 10"/>
          <p:cNvSpPr/>
          <p:nvPr/>
        </p:nvSpPr>
        <p:spPr>
          <a:xfrm>
            <a:off x="3200400" y="3931920"/>
            <a:ext cx="576072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4114800"/>
            <a:ext cx="7589520" cy="1645920"/>
          </a:xfrm>
          <a:prstGeom prst="rect">
            <a:avLst/>
          </a:prstGeom>
          <a:noFill/>
        </p:spPr>
        <p:txBody>
          <a:bodyPr wrap="square">
            <a:spAutoFit/>
          </a:bodyPr>
          <a:lstStyle/>
          <a:p>
            <a:pPr algn="ctr">
              <a:defRPr sz="1700" b="0">
                <a:solidFill>
                  <a:srgbClr val="1B3A5C"/>
                </a:solidFill>
                <a:latin typeface="Calibri"/>
              </a:defRPr>
            </a:pPr>
            <a:r>
              <a:t>Coupling: Cluster membership → Peer sentiment pooling → Feature enrichment</a:t>
            </a:r>
            <a:br/>
            <a:r>
              <a:t>"Clustering is not just analysis — it is a structural signal router."</a:t>
            </a:r>
          </a:p>
        </p:txBody>
      </p:sp>
      <p:sp>
        <p:nvSpPr>
          <p:cNvPr id="13" name="Rectangle 12"/>
          <p:cNvSpPr/>
          <p:nvPr/>
        </p:nvSpPr>
        <p:spPr>
          <a:xfrm>
            <a:off x="457200" y="5943600"/>
            <a:ext cx="5303520"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080760"/>
            <a:ext cx="4937760" cy="640080"/>
          </a:xfrm>
          <a:prstGeom prst="rect">
            <a:avLst/>
          </a:prstGeom>
          <a:noFill/>
        </p:spPr>
        <p:txBody>
          <a:bodyPr wrap="square">
            <a:spAutoFit/>
          </a:bodyPr>
          <a:lstStyle/>
          <a:p>
            <a:pPr algn="ctr">
              <a:defRPr sz="1400" b="1">
                <a:solidFill>
                  <a:srgbClr val="FFFFFF"/>
                </a:solidFill>
                <a:latin typeface="Calibri"/>
              </a:defRPr>
            </a:pPr>
            <a:r>
              <a:t>Innovation 1: Cluster News Prediction</a:t>
            </a:r>
            <a:br/>
            <a:r>
              <a:t>(情緒衰減 Sentiment Decay + 聚類感知 Cluster-Aware)</a:t>
            </a:r>
          </a:p>
        </p:txBody>
      </p:sp>
      <p:sp>
        <p:nvSpPr>
          <p:cNvPr id="15" name="Rectangle 14"/>
          <p:cNvSpPr/>
          <p:nvPr/>
        </p:nvSpPr>
        <p:spPr>
          <a:xfrm>
            <a:off x="6400800" y="5943600"/>
            <a:ext cx="5303520" cy="914400"/>
          </a:xfrm>
          <a:prstGeom prst="rect">
            <a:avLst/>
          </a:prstGeom>
          <a:solidFill>
            <a:srgbClr val="2C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6080760"/>
            <a:ext cx="4937760" cy="640080"/>
          </a:xfrm>
          <a:prstGeom prst="rect">
            <a:avLst/>
          </a:prstGeom>
          <a:noFill/>
        </p:spPr>
        <p:txBody>
          <a:bodyPr wrap="square">
            <a:spAutoFit/>
          </a:bodyPr>
          <a:lstStyle/>
          <a:p>
            <a:pPr algn="ctr">
              <a:defRPr sz="1400" b="1">
                <a:solidFill>
                  <a:srgbClr val="FFFFFF"/>
                </a:solidFill>
                <a:latin typeface="Calibri"/>
              </a:defRPr>
            </a:pPr>
            <a:r>
              <a:t>Innovation 2: Multi-Horizon Meta-Signal</a:t>
            </a:r>
            <a:br/>
            <a:r>
              <a:t>(Future Prediction for Overall Strategy)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Feature Engineering &amp; Sentiment Decay</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486400" cy="2286000"/>
          </a:xfrm>
          <a:prstGeom prst="rect">
            <a:avLst/>
          </a:prstGeom>
          <a:noFill/>
        </p:spPr>
        <p:txBody>
          <a:bodyPr wrap="square">
            <a:spAutoFit/>
          </a:bodyPr>
          <a:lstStyle/>
          <a:p>
            <a:pPr>
              <a:spcBef>
                <a:spcPts val="400"/>
              </a:spcBef>
              <a:spcAft>
                <a:spcPts val="200"/>
              </a:spcAft>
            </a:pPr>
            <a:r>
              <a:rPr b="1" sz="1500">
                <a:solidFill>
                  <a:srgbClr val="2C2C2C"/>
                </a:solidFill>
                <a:latin typeface="Calibri"/>
              </a:rPr>
              <a:t>Lagged Returns: </a:t>
            </a:r>
            <a:r>
              <a:rPr sz="1500">
                <a:solidFill>
                  <a:srgbClr val="2C2C2C"/>
                </a:solidFill>
                <a:latin typeface="Calibri"/>
              </a:rPr>
              <a:t>Return_{t-1}, t-2, t-5 — momentum/mean-reversion</a:t>
            </a:r>
          </a:p>
          <a:p>
            <a:pPr>
              <a:spcBef>
                <a:spcPts val="400"/>
              </a:spcBef>
              <a:spcAft>
                <a:spcPts val="200"/>
              </a:spcAft>
            </a:pPr>
            <a:r>
              <a:rPr b="1" sz="1500">
                <a:solidFill>
                  <a:srgbClr val="2C2C2C"/>
                </a:solidFill>
                <a:latin typeface="Calibri"/>
              </a:rPr>
              <a:t>Moving Averages: </a:t>
            </a:r>
            <a:r>
              <a:rPr sz="1500">
                <a:solidFill>
                  <a:srgbClr val="2C2C2C"/>
                </a:solidFill>
                <a:latin typeface="Calibri"/>
              </a:rPr>
              <a:t>MA5, MA10, MA20, EMA12, EMA26 — trend</a:t>
            </a:r>
          </a:p>
          <a:p>
            <a:pPr>
              <a:spcBef>
                <a:spcPts val="400"/>
              </a:spcBef>
              <a:spcAft>
                <a:spcPts val="200"/>
              </a:spcAft>
            </a:pPr>
            <a:r>
              <a:rPr b="1" sz="1500">
                <a:solidFill>
                  <a:srgbClr val="2C2C2C"/>
                </a:solidFill>
                <a:latin typeface="Calibri"/>
              </a:rPr>
              <a:t>Volatility: </a:t>
            </a:r>
            <a:r>
              <a:rPr sz="1500">
                <a:solidFill>
                  <a:srgbClr val="2C2C2C"/>
                </a:solidFill>
                <a:latin typeface="Calibri"/>
              </a:rPr>
              <a:t>ATR, Bollinger %B, Historical Vol(20d)</a:t>
            </a:r>
          </a:p>
          <a:p>
            <a:pPr>
              <a:spcBef>
                <a:spcPts val="400"/>
              </a:spcBef>
              <a:spcAft>
                <a:spcPts val="200"/>
              </a:spcAft>
            </a:pPr>
            <a:r>
              <a:rPr b="1" sz="1500">
                <a:solidFill>
                  <a:srgbClr val="2C2C2C"/>
                </a:solidFill>
                <a:latin typeface="Calibri"/>
              </a:rPr>
              <a:t>Volume: </a:t>
            </a:r>
            <a:r>
              <a:rPr sz="1500">
                <a:solidFill>
                  <a:srgbClr val="2C2C2C"/>
                </a:solidFill>
                <a:latin typeface="Calibri"/>
              </a:rPr>
              <a:t>Volume ratio, OBV, Volume MA — liquidity</a:t>
            </a:r>
          </a:p>
          <a:p>
            <a:pPr>
              <a:spcBef>
                <a:spcPts val="400"/>
              </a:spcBef>
              <a:spcAft>
                <a:spcPts val="200"/>
              </a:spcAft>
            </a:pPr>
            <a:r>
              <a:rPr b="1" sz="1500">
                <a:solidFill>
                  <a:srgbClr val="2C2C2C"/>
                </a:solidFill>
                <a:latin typeface="Calibri"/>
              </a:rPr>
              <a:t>Momentum: </a:t>
            </a:r>
            <a:r>
              <a:rPr sz="1500">
                <a:solidFill>
                  <a:srgbClr val="2C2C2C"/>
                </a:solidFill>
                <a:latin typeface="Calibri"/>
              </a:rPr>
              <a:t>RSI(14), MACD, Stochastic %K</a:t>
            </a:r>
          </a:p>
          <a:p>
            <a:pPr>
              <a:spcBef>
                <a:spcPts val="400"/>
              </a:spcBef>
              <a:spcAft>
                <a:spcPts val="200"/>
              </a:spcAft>
            </a:pPr>
            <a:r>
              <a:rPr b="1" sz="1500">
                <a:solidFill>
                  <a:srgbClr val="2C2C2C"/>
                </a:solidFill>
                <a:latin typeface="Calibri"/>
              </a:rPr>
              <a:t>Direct Sentiment: </a:t>
            </a:r>
            <a:r>
              <a:rPr sz="1500">
                <a:solidFill>
                  <a:srgbClr val="2C2C2C"/>
                </a:solidFill>
                <a:latin typeface="Calibri"/>
              </a:rPr>
              <a:t>Decay-weighted ticker news (FinBERT)</a:t>
            </a:r>
          </a:p>
          <a:p>
            <a:pPr>
              <a:spcBef>
                <a:spcPts val="400"/>
              </a:spcBef>
              <a:spcAft>
                <a:spcPts val="200"/>
              </a:spcAft>
            </a:pPr>
            <a:r>
              <a:rPr b="1" sz="1500">
                <a:solidFill>
                  <a:srgbClr val="2C2C2C"/>
                </a:solidFill>
                <a:latin typeface="Calibri"/>
              </a:rPr>
              <a:t>Cluster Sentiment: </a:t>
            </a:r>
            <a:r>
              <a:rPr sz="1500">
                <a:solidFill>
                  <a:srgbClr val="2C2C2C"/>
                </a:solidFill>
                <a:latin typeface="Calibri"/>
              </a:rPr>
              <a:t>Peer-pooled sentiment — fills sparse days</a:t>
            </a:r>
          </a:p>
        </p:txBody>
      </p:sp>
      <p:sp>
        <p:nvSpPr>
          <p:cNvPr id="6" name="Rectangle 5"/>
          <p:cNvSpPr/>
          <p:nvPr/>
        </p:nvSpPr>
        <p:spPr>
          <a:xfrm>
            <a:off x="457200" y="3931920"/>
            <a:ext cx="5669280" cy="2377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023360"/>
            <a:ext cx="5303520" cy="457200"/>
          </a:xfrm>
          <a:prstGeom prst="rect">
            <a:avLst/>
          </a:prstGeom>
          <a:noFill/>
        </p:spPr>
        <p:txBody>
          <a:bodyPr wrap="square">
            <a:spAutoFit/>
          </a:bodyPr>
          <a:lstStyle/>
          <a:p>
            <a:pPr algn="l">
              <a:defRPr sz="1700" b="1">
                <a:solidFill>
                  <a:srgbClr val="1B3A5C"/>
                </a:solidFill>
                <a:latin typeface="Calibri"/>
              </a:defRPr>
            </a:pPr>
            <a:r>
              <a:t>Temporal Sentiment Decay (Grid-Searched)</a:t>
            </a:r>
          </a:p>
        </p:txBody>
      </p:sp>
      <p:sp>
        <p:nvSpPr>
          <p:cNvPr id="8" name="TextBox 7"/>
          <p:cNvSpPr txBox="1"/>
          <p:nvPr/>
        </p:nvSpPr>
        <p:spPr>
          <a:xfrm>
            <a:off x="640080" y="4572000"/>
            <a:ext cx="5303520" cy="1645920"/>
          </a:xfrm>
          <a:prstGeom prst="rect">
            <a:avLst/>
          </a:prstGeom>
          <a:noFill/>
        </p:spPr>
        <p:txBody>
          <a:bodyPr wrap="square">
            <a:spAutoFit/>
          </a:bodyPr>
          <a:lstStyle/>
          <a:p>
            <a:pPr>
              <a:spcBef>
                <a:spcPts val="400"/>
              </a:spcBef>
              <a:spcAft>
                <a:spcPts val="200"/>
              </a:spcAft>
            </a:pPr>
            <a:r>
              <a:rPr sz="1400">
                <a:solidFill>
                  <a:srgbClr val="2C2C2C"/>
                </a:solidFill>
                <a:latin typeface="Calibri"/>
              </a:rPr>
              <a:t>• Weight: w_k = exp(-λ(k-1)) / Σ exp(-λ(m-1))</a:t>
            </a:r>
          </a:p>
          <a:p>
            <a:pPr>
              <a:spcBef>
                <a:spcPts val="400"/>
              </a:spcBef>
              <a:spcAft>
                <a:spcPts val="200"/>
              </a:spcAft>
            </a:pPr>
            <a:r>
              <a:rPr sz="1400">
                <a:solidFill>
                  <a:srgbClr val="2C2C2C"/>
                </a:solidFill>
                <a:latin typeface="Calibri"/>
              </a:rPr>
              <a:t>• Optimal: L* = 10 days, λ* = 0.2</a:t>
            </a:r>
          </a:p>
          <a:p>
            <a:pPr>
              <a:spcBef>
                <a:spcPts val="400"/>
              </a:spcBef>
              <a:spcAft>
                <a:spcPts val="200"/>
              </a:spcAft>
            </a:pPr>
            <a:r>
              <a:rPr sz="1400">
                <a:solidFill>
                  <a:srgbClr val="2C2C2C"/>
                </a:solidFill>
                <a:latin typeface="Calibri"/>
              </a:rPr>
              <a:t>• Grid-Search MAE = 4.8383</a:t>
            </a:r>
          </a:p>
          <a:p>
            <a:pPr>
              <a:spcBef>
                <a:spcPts val="400"/>
              </a:spcBef>
              <a:spcAft>
                <a:spcPts val="200"/>
              </a:spcAft>
            </a:pPr>
            <a:r>
              <a:rPr sz="1400">
                <a:solidFill>
                  <a:srgbClr val="2C2C2C"/>
                </a:solidFill>
                <a:latin typeface="Calibri"/>
              </a:rPr>
              <a:t>• Near-flat optimum → robust, not fragile artefact</a:t>
            </a:r>
          </a:p>
        </p:txBody>
      </p:sp>
      <p:pic>
        <p:nvPicPr>
          <p:cNvPr id="9" name="Picture 8" descr="02_feature_correlation_regression.png"/>
          <p:cNvPicPr>
            <a:picLocks noChangeAspect="1"/>
          </p:cNvPicPr>
          <p:nvPr/>
        </p:nvPicPr>
        <p:blipFill>
          <a:blip r:embed="rId2"/>
          <a:stretch>
            <a:fillRect/>
          </a:stretch>
        </p:blipFill>
        <p:spPr>
          <a:xfrm>
            <a:off x="6583680" y="1188720"/>
            <a:ext cx="5029200" cy="45029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Model Selection: Why XGBoost?</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029200" cy="3657600"/>
          </a:xfrm>
          <a:prstGeom prst="rect">
            <a:avLst/>
          </a:prstGeom>
          <a:noFill/>
        </p:spPr>
        <p:txBody>
          <a:bodyPr wrap="square">
            <a:spAutoFit/>
          </a:bodyPr>
          <a:lstStyle/>
          <a:p>
            <a:pPr>
              <a:spcBef>
                <a:spcPts val="400"/>
              </a:spcBef>
              <a:spcAft>
                <a:spcPts val="200"/>
              </a:spcAft>
            </a:pPr>
            <a:r>
              <a:rPr b="1" sz="1700">
                <a:solidFill>
                  <a:srgbClr val="2C2C2C"/>
                </a:solidFill>
                <a:latin typeface="Calibri"/>
              </a:rPr>
              <a:t>4 candidates: </a:t>
            </a:r>
            <a:r>
              <a:rPr sz="1700">
                <a:solidFill>
                  <a:srgbClr val="2C2C2C"/>
                </a:solidFill>
                <a:latin typeface="Calibri"/>
              </a:rPr>
              <a:t>Linear/Ridge, Random Forest, XGBoost, LSTM/GRU</a:t>
            </a:r>
          </a:p>
          <a:p>
            <a:pPr>
              <a:spcBef>
                <a:spcPts val="400"/>
              </a:spcBef>
              <a:spcAft>
                <a:spcPts val="200"/>
              </a:spcAft>
            </a:pPr>
            <a:r>
              <a:rPr b="1" sz="1700">
                <a:solidFill>
                  <a:srgbClr val="2C2C2C"/>
                </a:solidFill>
                <a:latin typeface="Calibri"/>
              </a:rPr>
              <a:t>XGBoost wins: </a:t>
            </a:r>
            <a:r>
              <a:rPr sz="1700">
                <a:solidFill>
                  <a:srgbClr val="2C2C2C"/>
                </a:solidFill>
                <a:latin typeface="Calibri"/>
              </a:rPr>
              <a:t>best tabular fit, handles mixed features, fast, regularised</a:t>
            </a:r>
          </a:p>
          <a:p>
            <a:pPr>
              <a:spcBef>
                <a:spcPts val="400"/>
              </a:spcBef>
              <a:spcAft>
                <a:spcPts val="200"/>
              </a:spcAft>
            </a:pPr>
            <a:r>
              <a:rPr b="1" sz="1700">
                <a:solidFill>
                  <a:srgbClr val="2C2C2C"/>
                </a:solidFill>
                <a:latin typeface="Calibri"/>
              </a:rPr>
              <a:t>Deep models fail: </a:t>
            </a:r>
            <a:r>
              <a:rPr sz="1700">
                <a:solidFill>
                  <a:srgbClr val="2C2C2C"/>
                </a:solidFill>
                <a:latin typeface="Calibri"/>
              </a:rPr>
              <a:t>training-validation divergence under strict temporal splitting</a:t>
            </a:r>
          </a:p>
          <a:p>
            <a:pPr>
              <a:spcBef>
                <a:spcPts val="400"/>
              </a:spcBef>
              <a:spcAft>
                <a:spcPts val="200"/>
              </a:spcAft>
            </a:pPr>
            <a:r>
              <a:rPr b="1" sz="1700">
                <a:solidFill>
                  <a:srgbClr val="2C2C2C"/>
                </a:solidFill>
                <a:latin typeface="Calibri"/>
              </a:rPr>
              <a:t>Optuna tuning: </a:t>
            </a:r>
            <a:r>
              <a:rPr sz="1700">
                <a:solidFill>
                  <a:srgbClr val="2C2C2C"/>
                </a:solidFill>
                <a:latin typeface="Calibri"/>
              </a:rPr>
              <a:t>50-trial Bayesian HPO over max_depth, lr, n_estimators, subsample</a:t>
            </a:r>
          </a:p>
          <a:p>
            <a:pPr>
              <a:spcBef>
                <a:spcPts val="400"/>
              </a:spcBef>
              <a:spcAft>
                <a:spcPts val="200"/>
              </a:spcAft>
            </a:pPr>
            <a:r>
              <a:rPr b="1" sz="1700">
                <a:solidFill>
                  <a:srgbClr val="2C2C2C"/>
                </a:solidFill>
                <a:latin typeface="Calibri"/>
              </a:rPr>
              <a:t>Data regime: </a:t>
            </a:r>
            <a:r>
              <a:rPr sz="1700">
                <a:solidFill>
                  <a:srgbClr val="2C2C2C"/>
                </a:solidFill>
                <a:latin typeface="Calibri"/>
              </a:rPr>
              <a:t>limited per-ticker samples → gradient-boosted trees naturally robust</a:t>
            </a:r>
          </a:p>
        </p:txBody>
      </p:sp>
      <p:pic>
        <p:nvPicPr>
          <p:cNvPr id="6" name="Picture 5" descr="03_regression_metrics_comparison.png"/>
          <p:cNvPicPr>
            <a:picLocks noChangeAspect="1"/>
          </p:cNvPicPr>
          <p:nvPr/>
        </p:nvPicPr>
        <p:blipFill>
          <a:blip r:embed="rId2"/>
          <a:stretch>
            <a:fillRect/>
          </a:stretch>
        </p:blipFill>
        <p:spPr>
          <a:xfrm>
            <a:off x="6217920" y="1188720"/>
            <a:ext cx="5486400" cy="392187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Clustering: K-Means Wins (K=6, Composite=0.577)</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486400" cy="2743200"/>
          </a:xfrm>
          <a:prstGeom prst="rect">
            <a:avLst/>
          </a:prstGeom>
          <a:noFill/>
        </p:spPr>
        <p:txBody>
          <a:bodyPr wrap="square">
            <a:spAutoFit/>
          </a:bodyPr>
          <a:lstStyle/>
          <a:p>
            <a:pPr>
              <a:spcBef>
                <a:spcPts val="400"/>
              </a:spcBef>
              <a:spcAft>
                <a:spcPts val="200"/>
              </a:spcAft>
            </a:pPr>
            <a:r>
              <a:rPr b="1" sz="1600">
                <a:solidFill>
                  <a:srgbClr val="2C2C2C"/>
                </a:solidFill>
                <a:latin typeface="Calibri"/>
              </a:rPr>
              <a:t>K-Means (K=6): </a:t>
            </a:r>
            <a:r>
              <a:rPr sz="1600">
                <a:solidFill>
                  <a:srgbClr val="2C2C2C"/>
                </a:solidFill>
                <a:latin typeface="Calibri"/>
              </a:rPr>
              <a:t>Composite 0.577, Silhouette 0.250, 0% noise → Rank 1</a:t>
            </a:r>
          </a:p>
          <a:p>
            <a:pPr>
              <a:spcBef>
                <a:spcPts val="400"/>
              </a:spcBef>
              <a:spcAft>
                <a:spcPts val="200"/>
              </a:spcAft>
            </a:pPr>
            <a:r>
              <a:rPr b="1" sz="1600">
                <a:solidFill>
                  <a:srgbClr val="2C2C2C"/>
                </a:solidFill>
                <a:latin typeface="Calibri"/>
              </a:rPr>
              <a:t>DBSCAN: </a:t>
            </a:r>
            <a:r>
              <a:rPr sz="1600">
                <a:solidFill>
                  <a:srgbClr val="2C2C2C"/>
                </a:solidFill>
                <a:latin typeface="Calibri"/>
              </a:rPr>
              <a:t>Highest silhouette (0.565) but 9.3% noise → unusable for routing</a:t>
            </a:r>
          </a:p>
          <a:p>
            <a:pPr>
              <a:spcBef>
                <a:spcPts val="400"/>
              </a:spcBef>
              <a:spcAft>
                <a:spcPts val="200"/>
              </a:spcAft>
            </a:pPr>
            <a:r>
              <a:rPr b="1" sz="1600">
                <a:solidFill>
                  <a:srgbClr val="2C2C2C"/>
                </a:solidFill>
                <a:latin typeface="Calibri"/>
              </a:rPr>
              <a:t>GMM: </a:t>
            </a:r>
            <a:r>
              <a:rPr sz="1600">
                <a:solidFill>
                  <a:srgbClr val="2C2C2C"/>
                </a:solidFill>
                <a:latin typeface="Calibri"/>
              </a:rPr>
              <a:t>K=9, lowest silhouette (0.057), over-fragmented</a:t>
            </a:r>
          </a:p>
          <a:p>
            <a:pPr>
              <a:spcBef>
                <a:spcPts val="400"/>
              </a:spcBef>
              <a:spcAft>
                <a:spcPts val="200"/>
              </a:spcAft>
            </a:pPr>
            <a:r>
              <a:rPr b="1" sz="1600">
                <a:solidFill>
                  <a:srgbClr val="2C2C2C"/>
                </a:solidFill>
                <a:latin typeface="Calibri"/>
              </a:rPr>
              <a:t>Selection rationale: </a:t>
            </a:r>
            <a:r>
              <a:rPr sz="1600">
                <a:solidFill>
                  <a:srgbClr val="2C2C2C"/>
                </a:solidFill>
                <a:latin typeface="Calibri"/>
              </a:rPr>
              <a:t>Zero noise critical for sentiment peer-group routing</a:t>
            </a:r>
          </a:p>
        </p:txBody>
      </p:sp>
      <p:pic>
        <p:nvPicPr>
          <p:cNvPr id="6" name="Picture 5" descr="03A_02_pca_scatter.png"/>
          <p:cNvPicPr>
            <a:picLocks noChangeAspect="1"/>
          </p:cNvPicPr>
          <p:nvPr/>
        </p:nvPicPr>
        <p:blipFill>
          <a:blip r:embed="rId2"/>
          <a:stretch>
            <a:fillRect/>
          </a:stretch>
        </p:blipFill>
        <p:spPr>
          <a:xfrm>
            <a:off x="6400800" y="1188720"/>
            <a:ext cx="5303520" cy="3997502"/>
          </a:xfrm>
          <a:prstGeom prst="rect">
            <a:avLst/>
          </a:prstGeom>
        </p:spPr>
      </p:pic>
      <p:pic>
        <p:nvPicPr>
          <p:cNvPr id="7" name="Picture 6" descr="03A_01_k_selection.png"/>
          <p:cNvPicPr>
            <a:picLocks noChangeAspect="1"/>
          </p:cNvPicPr>
          <p:nvPr/>
        </p:nvPicPr>
        <p:blipFill>
          <a:blip r:embed="rId3"/>
          <a:stretch>
            <a:fillRect/>
          </a:stretch>
        </p:blipFill>
        <p:spPr>
          <a:xfrm>
            <a:off x="457200" y="4114800"/>
            <a:ext cx="5029200" cy="136947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Section 3.5 — How 02B Cluster-Aware Regression Improves Prediction</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669280" cy="2560320"/>
          </a:xfrm>
          <a:prstGeom prst="rect">
            <a:avLst/>
          </a:prstGeom>
          <a:noFill/>
        </p:spPr>
        <p:txBody>
          <a:bodyPr wrap="square">
            <a:spAutoFit/>
          </a:bodyPr>
          <a:lstStyle/>
          <a:p>
            <a:pPr>
              <a:spcBef>
                <a:spcPts val="400"/>
              </a:spcBef>
              <a:spcAft>
                <a:spcPts val="200"/>
              </a:spcAft>
            </a:pPr>
            <a:r>
              <a:rPr b="1" sz="1500">
                <a:solidFill>
                  <a:srgbClr val="2C2C2C"/>
                </a:solidFill>
                <a:latin typeface="Calibri"/>
              </a:rPr>
              <a:t>Mechanism 1: </a:t>
            </a:r>
            <a:r>
              <a:rPr sz="1500">
                <a:solidFill>
                  <a:srgbClr val="2C2C2C"/>
                </a:solidFill>
                <a:latin typeface="Calibri"/>
              </a:rPr>
              <a:t>Inject cluster_id and market_state one-hot signals into global XGBoost</a:t>
            </a:r>
          </a:p>
          <a:p>
            <a:pPr>
              <a:spcBef>
                <a:spcPts val="400"/>
              </a:spcBef>
              <a:spcAft>
                <a:spcPts val="200"/>
              </a:spcAft>
            </a:pPr>
            <a:r>
              <a:rPr b="1" sz="1500">
                <a:solidFill>
                  <a:srgbClr val="2C2C2C"/>
                </a:solidFill>
                <a:latin typeface="Calibri"/>
              </a:rPr>
              <a:t>Mechanism 2: </a:t>
            </a:r>
            <a:r>
              <a:rPr sz="1500">
                <a:solidFill>
                  <a:srgbClr val="2C2C2C"/>
                </a:solidFill>
                <a:latin typeface="Calibri"/>
              </a:rPr>
              <a:t>Train cluster-specific XGBoost experts for each behavioural peer group</a:t>
            </a:r>
          </a:p>
          <a:p>
            <a:pPr>
              <a:spcBef>
                <a:spcPts val="400"/>
              </a:spcBef>
              <a:spcAft>
                <a:spcPts val="200"/>
              </a:spcAft>
            </a:pPr>
            <a:r>
              <a:rPr b="1" sz="1500">
                <a:solidFill>
                  <a:srgbClr val="2C2C2C"/>
                </a:solidFill>
                <a:latin typeface="Calibri"/>
              </a:rPr>
              <a:t>Mechanism 3: </a:t>
            </a:r>
            <a:r>
              <a:rPr sz="1500">
                <a:solidFill>
                  <a:srgbClr val="2C2C2C"/>
                </a:solidFill>
                <a:latin typeface="Calibri"/>
              </a:rPr>
              <a:t>Blend global and expert outputs with validation-tuned alpha</a:t>
            </a:r>
          </a:p>
          <a:p>
            <a:pPr>
              <a:spcBef>
                <a:spcPts val="400"/>
              </a:spcBef>
              <a:spcAft>
                <a:spcPts val="200"/>
              </a:spcAft>
            </a:pPr>
            <a:r>
              <a:rPr b="1" sz="1500">
                <a:solidFill>
                  <a:srgbClr val="2C2C2C"/>
                </a:solidFill>
                <a:latin typeface="Calibri"/>
              </a:rPr>
              <a:t>Why it works: </a:t>
            </a:r>
            <a:r>
              <a:rPr sz="1500">
                <a:solidFill>
                  <a:srgbClr val="2C2C2C"/>
                </a:solidFill>
                <a:latin typeface="Calibri"/>
              </a:rPr>
              <a:t>Reduces cross-regime parameter conflict and improves specialization</a:t>
            </a:r>
          </a:p>
        </p:txBody>
      </p:sp>
      <p:sp>
        <p:nvSpPr>
          <p:cNvPr id="6" name="Rectangle 5"/>
          <p:cNvSpPr/>
          <p:nvPr/>
        </p:nvSpPr>
        <p:spPr>
          <a:xfrm>
            <a:off x="457200" y="3840480"/>
            <a:ext cx="5760720" cy="26517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931920"/>
            <a:ext cx="5394960" cy="365760"/>
          </a:xfrm>
          <a:prstGeom prst="rect">
            <a:avLst/>
          </a:prstGeom>
          <a:noFill/>
        </p:spPr>
        <p:txBody>
          <a:bodyPr wrap="square">
            <a:spAutoFit/>
          </a:bodyPr>
          <a:lstStyle/>
          <a:p>
            <a:pPr algn="l">
              <a:defRPr sz="1500" b="1">
                <a:solidFill>
                  <a:srgbClr val="1B3A5C"/>
                </a:solidFill>
                <a:latin typeface="Calibri"/>
              </a:defRPr>
            </a:pPr>
            <a:r>
              <a:t>02B Impact Summary (Internal Notebook Comparison)</a:t>
            </a:r>
          </a:p>
        </p:txBody>
      </p:sp>
      <p:sp>
        <p:nvSpPr>
          <p:cNvPr id="8" name="TextBox 7"/>
          <p:cNvSpPr txBox="1"/>
          <p:nvPr/>
        </p:nvSpPr>
        <p:spPr>
          <a:xfrm>
            <a:off x="640080" y="4343400"/>
            <a:ext cx="3291840" cy="274320"/>
          </a:xfrm>
          <a:prstGeom prst="rect">
            <a:avLst/>
          </a:prstGeom>
          <a:noFill/>
        </p:spPr>
        <p:txBody>
          <a:bodyPr wrap="square">
            <a:spAutoFit/>
          </a:bodyPr>
          <a:lstStyle/>
          <a:p>
            <a:pPr algn="l">
              <a:defRPr sz="1200" b="1">
                <a:solidFill>
                  <a:srgbClr val="1B3A5C"/>
                </a:solidFill>
                <a:latin typeface="Calibri"/>
              </a:defRPr>
            </a:pPr>
            <a:r>
              <a:t>Setup</a:t>
            </a:r>
          </a:p>
        </p:txBody>
      </p:sp>
      <p:sp>
        <p:nvSpPr>
          <p:cNvPr id="9" name="TextBox 8"/>
          <p:cNvSpPr txBox="1"/>
          <p:nvPr/>
        </p:nvSpPr>
        <p:spPr>
          <a:xfrm>
            <a:off x="4023360" y="4343400"/>
            <a:ext cx="914400" cy="274320"/>
          </a:xfrm>
          <a:prstGeom prst="rect">
            <a:avLst/>
          </a:prstGeom>
          <a:noFill/>
        </p:spPr>
        <p:txBody>
          <a:bodyPr wrap="square">
            <a:spAutoFit/>
          </a:bodyPr>
          <a:lstStyle/>
          <a:p>
            <a:pPr algn="ctr">
              <a:defRPr sz="1200" b="1">
                <a:solidFill>
                  <a:srgbClr val="1B3A5C"/>
                </a:solidFill>
                <a:latin typeface="Calibri"/>
              </a:defRPr>
            </a:pPr>
            <a:r>
              <a:t>MAE</a:t>
            </a:r>
          </a:p>
        </p:txBody>
      </p:sp>
      <p:sp>
        <p:nvSpPr>
          <p:cNvPr id="10" name="TextBox 9"/>
          <p:cNvSpPr txBox="1"/>
          <p:nvPr/>
        </p:nvSpPr>
        <p:spPr>
          <a:xfrm>
            <a:off x="4937760" y="4343400"/>
            <a:ext cx="1097280" cy="274320"/>
          </a:xfrm>
          <a:prstGeom prst="rect">
            <a:avLst/>
          </a:prstGeom>
          <a:noFill/>
        </p:spPr>
        <p:txBody>
          <a:bodyPr wrap="square">
            <a:spAutoFit/>
          </a:bodyPr>
          <a:lstStyle/>
          <a:p>
            <a:pPr algn="ctr">
              <a:defRPr sz="1200" b="1">
                <a:solidFill>
                  <a:srgbClr val="1B3A5C"/>
                </a:solidFill>
                <a:latin typeface="Calibri"/>
              </a:defRPr>
            </a:pPr>
            <a:r>
              <a:t>Improve</a:t>
            </a:r>
          </a:p>
        </p:txBody>
      </p:sp>
      <p:sp>
        <p:nvSpPr>
          <p:cNvPr id="11" name="TextBox 10"/>
          <p:cNvSpPr txBox="1"/>
          <p:nvPr/>
        </p:nvSpPr>
        <p:spPr>
          <a:xfrm>
            <a:off x="685800" y="4690872"/>
            <a:ext cx="3200400" cy="274320"/>
          </a:xfrm>
          <a:prstGeom prst="rect">
            <a:avLst/>
          </a:prstGeom>
          <a:noFill/>
        </p:spPr>
        <p:txBody>
          <a:bodyPr wrap="square">
            <a:spAutoFit/>
          </a:bodyPr>
          <a:lstStyle/>
          <a:p>
            <a:pPr algn="l">
              <a:defRPr sz="1100" b="0">
                <a:solidFill>
                  <a:srgbClr val="2C2C2C"/>
                </a:solidFill>
                <a:latin typeface="Calibri"/>
              </a:defRPr>
            </a:pPr>
            <a:r>
              <a:t>Global Baseline</a:t>
            </a:r>
          </a:p>
        </p:txBody>
      </p:sp>
      <p:sp>
        <p:nvSpPr>
          <p:cNvPr id="12" name="TextBox 11"/>
          <p:cNvSpPr txBox="1"/>
          <p:nvPr/>
        </p:nvSpPr>
        <p:spPr>
          <a:xfrm>
            <a:off x="4023360" y="4690872"/>
            <a:ext cx="914400" cy="274320"/>
          </a:xfrm>
          <a:prstGeom prst="rect">
            <a:avLst/>
          </a:prstGeom>
          <a:noFill/>
        </p:spPr>
        <p:txBody>
          <a:bodyPr wrap="square">
            <a:spAutoFit/>
          </a:bodyPr>
          <a:lstStyle/>
          <a:p>
            <a:pPr algn="ctr">
              <a:defRPr sz="1100" b="0">
                <a:solidFill>
                  <a:srgbClr val="2C2C2C"/>
                </a:solidFill>
                <a:latin typeface="Calibri"/>
              </a:defRPr>
            </a:pPr>
            <a:r>
              <a:t>3.7405</a:t>
            </a:r>
          </a:p>
        </p:txBody>
      </p:sp>
      <p:sp>
        <p:nvSpPr>
          <p:cNvPr id="13" name="TextBox 12"/>
          <p:cNvSpPr txBox="1"/>
          <p:nvPr/>
        </p:nvSpPr>
        <p:spPr>
          <a:xfrm>
            <a:off x="4937760" y="4690872"/>
            <a:ext cx="1097280" cy="274320"/>
          </a:xfrm>
          <a:prstGeom prst="rect">
            <a:avLst/>
          </a:prstGeom>
          <a:noFill/>
        </p:spPr>
        <p:txBody>
          <a:bodyPr wrap="square">
            <a:spAutoFit/>
          </a:bodyPr>
          <a:lstStyle/>
          <a:p>
            <a:pPr algn="ctr">
              <a:defRPr sz="1100" b="0">
                <a:solidFill>
                  <a:srgbClr val="2C2C2C"/>
                </a:solidFill>
                <a:latin typeface="Calibri"/>
              </a:defRPr>
            </a:pPr>
            <a:r>
              <a:t>0.00%</a:t>
            </a:r>
          </a:p>
        </p:txBody>
      </p:sp>
      <p:sp>
        <p:nvSpPr>
          <p:cNvPr id="14" name="TextBox 13"/>
          <p:cNvSpPr txBox="1"/>
          <p:nvPr/>
        </p:nvSpPr>
        <p:spPr>
          <a:xfrm>
            <a:off x="685800" y="5038344"/>
            <a:ext cx="3200400" cy="274320"/>
          </a:xfrm>
          <a:prstGeom prst="rect">
            <a:avLst/>
          </a:prstGeom>
          <a:noFill/>
        </p:spPr>
        <p:txBody>
          <a:bodyPr wrap="square">
            <a:spAutoFit/>
          </a:bodyPr>
          <a:lstStyle/>
          <a:p>
            <a:pPr algn="l">
              <a:defRPr sz="1100" b="0">
                <a:solidFill>
                  <a:srgbClr val="2C2C2C"/>
                </a:solidFill>
                <a:latin typeface="Calibri"/>
              </a:defRPr>
            </a:pPr>
            <a:r>
              <a:t>Global + Cluster Features</a:t>
            </a:r>
          </a:p>
        </p:txBody>
      </p:sp>
      <p:sp>
        <p:nvSpPr>
          <p:cNvPr id="15" name="TextBox 14"/>
          <p:cNvSpPr txBox="1"/>
          <p:nvPr/>
        </p:nvSpPr>
        <p:spPr>
          <a:xfrm>
            <a:off x="4023360" y="5038344"/>
            <a:ext cx="914400" cy="274320"/>
          </a:xfrm>
          <a:prstGeom prst="rect">
            <a:avLst/>
          </a:prstGeom>
          <a:noFill/>
        </p:spPr>
        <p:txBody>
          <a:bodyPr wrap="square">
            <a:spAutoFit/>
          </a:bodyPr>
          <a:lstStyle/>
          <a:p>
            <a:pPr algn="ctr">
              <a:defRPr sz="1100" b="0">
                <a:solidFill>
                  <a:srgbClr val="2C2C2C"/>
                </a:solidFill>
                <a:latin typeface="Calibri"/>
              </a:defRPr>
            </a:pPr>
            <a:r>
              <a:t>3.4084</a:t>
            </a:r>
          </a:p>
        </p:txBody>
      </p:sp>
      <p:sp>
        <p:nvSpPr>
          <p:cNvPr id="16" name="TextBox 15"/>
          <p:cNvSpPr txBox="1"/>
          <p:nvPr/>
        </p:nvSpPr>
        <p:spPr>
          <a:xfrm>
            <a:off x="4937760" y="5038344"/>
            <a:ext cx="1097280" cy="274320"/>
          </a:xfrm>
          <a:prstGeom prst="rect">
            <a:avLst/>
          </a:prstGeom>
          <a:noFill/>
        </p:spPr>
        <p:txBody>
          <a:bodyPr wrap="square">
            <a:spAutoFit/>
          </a:bodyPr>
          <a:lstStyle/>
          <a:p>
            <a:pPr algn="ctr">
              <a:defRPr sz="1100" b="0">
                <a:solidFill>
                  <a:srgbClr val="2C2C2C"/>
                </a:solidFill>
                <a:latin typeface="Calibri"/>
              </a:defRPr>
            </a:pPr>
            <a:r>
              <a:t>8.88%</a:t>
            </a:r>
          </a:p>
        </p:txBody>
      </p:sp>
      <p:sp>
        <p:nvSpPr>
          <p:cNvPr id="17" name="TextBox 16"/>
          <p:cNvSpPr txBox="1"/>
          <p:nvPr/>
        </p:nvSpPr>
        <p:spPr>
          <a:xfrm>
            <a:off x="685800" y="5385816"/>
            <a:ext cx="3200400" cy="274320"/>
          </a:xfrm>
          <a:prstGeom prst="rect">
            <a:avLst/>
          </a:prstGeom>
          <a:noFill/>
        </p:spPr>
        <p:txBody>
          <a:bodyPr wrap="square">
            <a:spAutoFit/>
          </a:bodyPr>
          <a:lstStyle/>
          <a:p>
            <a:pPr algn="l">
              <a:defRPr sz="1100" b="0">
                <a:solidFill>
                  <a:srgbClr val="2C2C2C"/>
                </a:solidFill>
                <a:latin typeface="Calibri"/>
              </a:defRPr>
            </a:pPr>
            <a:r>
              <a:t>Cluster-Specific Models</a:t>
            </a:r>
          </a:p>
        </p:txBody>
      </p:sp>
      <p:sp>
        <p:nvSpPr>
          <p:cNvPr id="18" name="TextBox 17"/>
          <p:cNvSpPr txBox="1"/>
          <p:nvPr/>
        </p:nvSpPr>
        <p:spPr>
          <a:xfrm>
            <a:off x="4023360" y="5385816"/>
            <a:ext cx="914400" cy="274320"/>
          </a:xfrm>
          <a:prstGeom prst="rect">
            <a:avLst/>
          </a:prstGeom>
          <a:noFill/>
        </p:spPr>
        <p:txBody>
          <a:bodyPr wrap="square">
            <a:spAutoFit/>
          </a:bodyPr>
          <a:lstStyle/>
          <a:p>
            <a:pPr algn="ctr">
              <a:defRPr sz="1100" b="0">
                <a:solidFill>
                  <a:srgbClr val="2C2C2C"/>
                </a:solidFill>
                <a:latin typeface="Calibri"/>
              </a:defRPr>
            </a:pPr>
            <a:r>
              <a:t>2.5557</a:t>
            </a:r>
          </a:p>
        </p:txBody>
      </p:sp>
      <p:sp>
        <p:nvSpPr>
          <p:cNvPr id="19" name="TextBox 18"/>
          <p:cNvSpPr txBox="1"/>
          <p:nvPr/>
        </p:nvSpPr>
        <p:spPr>
          <a:xfrm>
            <a:off x="4937760" y="5385816"/>
            <a:ext cx="1097280" cy="274320"/>
          </a:xfrm>
          <a:prstGeom prst="rect">
            <a:avLst/>
          </a:prstGeom>
          <a:noFill/>
        </p:spPr>
        <p:txBody>
          <a:bodyPr wrap="square">
            <a:spAutoFit/>
          </a:bodyPr>
          <a:lstStyle/>
          <a:p>
            <a:pPr algn="ctr">
              <a:defRPr sz="1100" b="0">
                <a:solidFill>
                  <a:srgbClr val="2C2C2C"/>
                </a:solidFill>
                <a:latin typeface="Calibri"/>
              </a:defRPr>
            </a:pPr>
            <a:r>
              <a:t>31.68%</a:t>
            </a:r>
          </a:p>
        </p:txBody>
      </p:sp>
      <p:sp>
        <p:nvSpPr>
          <p:cNvPr id="20" name="Rectangle 19"/>
          <p:cNvSpPr/>
          <p:nvPr/>
        </p:nvSpPr>
        <p:spPr>
          <a:xfrm>
            <a:off x="594360" y="5733288"/>
            <a:ext cx="5440680" cy="310896"/>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733288"/>
            <a:ext cx="3200400" cy="274320"/>
          </a:xfrm>
          <a:prstGeom prst="rect">
            <a:avLst/>
          </a:prstGeom>
          <a:noFill/>
        </p:spPr>
        <p:txBody>
          <a:bodyPr wrap="square">
            <a:spAutoFit/>
          </a:bodyPr>
          <a:lstStyle/>
          <a:p>
            <a:pPr algn="l">
              <a:defRPr sz="1100" b="1">
                <a:solidFill>
                  <a:srgbClr val="27AE60"/>
                </a:solidFill>
                <a:latin typeface="Calibri"/>
              </a:defRPr>
            </a:pPr>
            <a:r>
              <a:t>Blended (Global + Cluster)</a:t>
            </a:r>
          </a:p>
        </p:txBody>
      </p:sp>
      <p:sp>
        <p:nvSpPr>
          <p:cNvPr id="22" name="TextBox 21"/>
          <p:cNvSpPr txBox="1"/>
          <p:nvPr/>
        </p:nvSpPr>
        <p:spPr>
          <a:xfrm>
            <a:off x="4023360" y="5733288"/>
            <a:ext cx="914400" cy="274320"/>
          </a:xfrm>
          <a:prstGeom prst="rect">
            <a:avLst/>
          </a:prstGeom>
          <a:noFill/>
        </p:spPr>
        <p:txBody>
          <a:bodyPr wrap="square">
            <a:spAutoFit/>
          </a:bodyPr>
          <a:lstStyle/>
          <a:p>
            <a:pPr algn="ctr">
              <a:defRPr sz="1100" b="1">
                <a:solidFill>
                  <a:srgbClr val="27AE60"/>
                </a:solidFill>
                <a:latin typeface="Calibri"/>
              </a:defRPr>
            </a:pPr>
            <a:r>
              <a:t>2.5557</a:t>
            </a:r>
          </a:p>
        </p:txBody>
      </p:sp>
      <p:sp>
        <p:nvSpPr>
          <p:cNvPr id="23" name="TextBox 22"/>
          <p:cNvSpPr txBox="1"/>
          <p:nvPr/>
        </p:nvSpPr>
        <p:spPr>
          <a:xfrm>
            <a:off x="4937760" y="5733288"/>
            <a:ext cx="1097280" cy="274320"/>
          </a:xfrm>
          <a:prstGeom prst="rect">
            <a:avLst/>
          </a:prstGeom>
          <a:noFill/>
        </p:spPr>
        <p:txBody>
          <a:bodyPr wrap="square">
            <a:spAutoFit/>
          </a:bodyPr>
          <a:lstStyle/>
          <a:p>
            <a:pPr algn="ctr">
              <a:defRPr sz="1100" b="1">
                <a:solidFill>
                  <a:srgbClr val="27AE60"/>
                </a:solidFill>
                <a:latin typeface="Calibri"/>
              </a:defRPr>
            </a:pPr>
            <a:r>
              <a:t>31.68%</a:t>
            </a:r>
          </a:p>
        </p:txBody>
      </p:sp>
      <p:sp>
        <p:nvSpPr>
          <p:cNvPr id="24" name="TextBox 23"/>
          <p:cNvSpPr txBox="1"/>
          <p:nvPr/>
        </p:nvSpPr>
        <p:spPr>
          <a:xfrm>
            <a:off x="640080" y="6080760"/>
            <a:ext cx="5394960" cy="320040"/>
          </a:xfrm>
          <a:prstGeom prst="rect">
            <a:avLst/>
          </a:prstGeom>
          <a:noFill/>
        </p:spPr>
        <p:txBody>
          <a:bodyPr wrap="square">
            <a:spAutoFit/>
          </a:bodyPr>
          <a:lstStyle/>
          <a:p>
            <a:pPr algn="l">
              <a:defRPr sz="1100" b="0">
                <a:solidFill>
                  <a:srgbClr val="666666"/>
                </a:solidFill>
                <a:latin typeface="Calibri"/>
              </a:defRPr>
            </a:pPr>
            <a:r>
              <a:t>Blend formula: y_blend = alpha*y_global + (1-alpha)*y_cluster</a:t>
            </a:r>
          </a:p>
        </p:txBody>
      </p:sp>
      <p:pic>
        <p:nvPicPr>
          <p:cNvPr id="25" name="Picture 24" descr="10_cluster_aware_feature_importance.png"/>
          <p:cNvPicPr>
            <a:picLocks noChangeAspect="1"/>
          </p:cNvPicPr>
          <p:nvPr/>
        </p:nvPicPr>
        <p:blipFill>
          <a:blip r:embed="rId2"/>
          <a:stretch>
            <a:fillRect/>
          </a:stretch>
        </p:blipFill>
        <p:spPr>
          <a:xfrm>
            <a:off x="6492240" y="1188720"/>
            <a:ext cx="5212080" cy="362594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Innovation 1 — Cluster News Prediction (聚類感知)</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486400" cy="2926080"/>
          </a:xfrm>
          <a:prstGeom prst="rect">
            <a:avLst/>
          </a:prstGeom>
          <a:noFill/>
        </p:spPr>
        <p:txBody>
          <a:bodyPr wrap="square">
            <a:spAutoFit/>
          </a:bodyPr>
          <a:lstStyle/>
          <a:p>
            <a:pPr>
              <a:spcBef>
                <a:spcPts val="400"/>
              </a:spcBef>
              <a:spcAft>
                <a:spcPts val="200"/>
              </a:spcAft>
            </a:pPr>
            <a:r>
              <a:rPr b="1" sz="1600">
                <a:solidFill>
                  <a:srgbClr val="2C2C2C"/>
                </a:solidFill>
                <a:latin typeface="Calibri"/>
              </a:rPr>
              <a:t>Problem: </a:t>
            </a:r>
            <a:r>
              <a:rPr sz="1600">
                <a:solidFill>
                  <a:srgbClr val="2C2C2C"/>
                </a:solidFill>
                <a:latin typeface="Calibri"/>
              </a:rPr>
              <a:t>Per-ticker news is sparse — most small/mid-caps have zero headlines on any given day</a:t>
            </a:r>
          </a:p>
          <a:p>
            <a:pPr>
              <a:spcBef>
                <a:spcPts val="400"/>
              </a:spcBef>
              <a:spcAft>
                <a:spcPts val="200"/>
              </a:spcAft>
            </a:pPr>
            <a:r>
              <a:rPr b="1" sz="1600">
                <a:solidFill>
                  <a:srgbClr val="2C2C2C"/>
                </a:solidFill>
                <a:latin typeface="Calibri"/>
              </a:rPr>
              <a:t>Solution: </a:t>
            </a:r>
            <a:r>
              <a:rPr sz="1600">
                <a:solidFill>
                  <a:srgbClr val="2C2C2C"/>
                </a:solidFill>
                <a:latin typeface="Calibri"/>
              </a:rPr>
              <a:t>Route news through cluster peer set → transforms sparsity into abundance</a:t>
            </a:r>
          </a:p>
          <a:p>
            <a:pPr>
              <a:spcBef>
                <a:spcPts val="400"/>
              </a:spcBef>
              <a:spcAft>
                <a:spcPts val="200"/>
              </a:spcAft>
            </a:pPr>
            <a:r>
              <a:rPr b="1" sz="1600">
                <a:solidFill>
                  <a:srgbClr val="2C2C2C"/>
                </a:solidFill>
                <a:latin typeface="Calibri"/>
              </a:rPr>
              <a:t>3 channels: </a:t>
            </a:r>
            <a:r>
              <a:rPr sz="1600">
                <a:solidFill>
                  <a:srgbClr val="2C2C2C"/>
                </a:solidFill>
                <a:latin typeface="Calibri"/>
              </a:rPr>
              <a:t>Direct ticker news + Peer-cluster news + Macro news</a:t>
            </a:r>
          </a:p>
          <a:p>
            <a:pPr>
              <a:spcBef>
                <a:spcPts val="400"/>
              </a:spcBef>
              <a:spcAft>
                <a:spcPts val="200"/>
              </a:spcAft>
            </a:pPr>
            <a:r>
              <a:rPr b="1" sz="1600">
                <a:solidFill>
                  <a:srgbClr val="2C2C2C"/>
                </a:solidFill>
                <a:latin typeface="Calibri"/>
              </a:rPr>
              <a:t>Weighting: </a:t>
            </a:r>
            <a:r>
              <a:rPr sz="1600">
                <a:solidFill>
                  <a:srgbClr val="2C2C2C"/>
                </a:solidFill>
                <a:latin typeface="Calibri"/>
              </a:rPr>
              <a:t>TF-IDF cosine similarity × recency × source reliability × FinBERT polarity</a:t>
            </a:r>
          </a:p>
          <a:p>
            <a:pPr>
              <a:spcBef>
                <a:spcPts val="400"/>
              </a:spcBef>
              <a:spcAft>
                <a:spcPts val="200"/>
              </a:spcAft>
            </a:pPr>
            <a:r>
              <a:rPr b="1" sz="1600">
                <a:solidFill>
                  <a:srgbClr val="2C2C2C"/>
                </a:solidFill>
                <a:latin typeface="Calibri"/>
              </a:rPr>
              <a:t>Stacked residual: </a:t>
            </a:r>
            <a:r>
              <a:rPr sz="1600">
                <a:solidFill>
                  <a:srgbClr val="2C2C2C"/>
                </a:solidFill>
                <a:latin typeface="Calibri"/>
              </a:rPr>
              <a:t>Sentiment explains only residual not captured by price baseline</a:t>
            </a:r>
          </a:p>
        </p:txBody>
      </p:sp>
      <p:sp>
        <p:nvSpPr>
          <p:cNvPr id="6" name="Rectangle 5"/>
          <p:cNvSpPr/>
          <p:nvPr/>
        </p:nvSpPr>
        <p:spPr>
          <a:xfrm>
            <a:off x="457200" y="4389120"/>
            <a:ext cx="566928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480560"/>
            <a:ext cx="5303520" cy="365760"/>
          </a:xfrm>
          <a:prstGeom prst="rect">
            <a:avLst/>
          </a:prstGeom>
          <a:noFill/>
        </p:spPr>
        <p:txBody>
          <a:bodyPr wrap="square">
            <a:spAutoFit/>
          </a:bodyPr>
          <a:lstStyle/>
          <a:p>
            <a:pPr algn="l">
              <a:defRPr sz="1700" b="1">
                <a:solidFill>
                  <a:srgbClr val="27AE60"/>
                </a:solidFill>
                <a:latin typeface="Calibri"/>
              </a:defRPr>
            </a:pPr>
            <a:r>
              <a:t>Key Results (02D Hold-Out)</a:t>
            </a:r>
          </a:p>
        </p:txBody>
      </p:sp>
      <p:sp>
        <p:nvSpPr>
          <p:cNvPr id="8" name="TextBox 7"/>
          <p:cNvSpPr txBox="1"/>
          <p:nvPr/>
        </p:nvSpPr>
        <p:spPr>
          <a:xfrm>
            <a:off x="640080" y="4937760"/>
            <a:ext cx="5303520" cy="1645920"/>
          </a:xfrm>
          <a:prstGeom prst="rect">
            <a:avLst/>
          </a:prstGeom>
          <a:noFill/>
        </p:spPr>
        <p:txBody>
          <a:bodyPr wrap="square">
            <a:spAutoFit/>
          </a:bodyPr>
          <a:lstStyle/>
          <a:p>
            <a:pPr>
              <a:spcBef>
                <a:spcPts val="400"/>
              </a:spcBef>
              <a:spcAft>
                <a:spcPts val="200"/>
              </a:spcAft>
            </a:pPr>
            <a:r>
              <a:rPr sz="1400">
                <a:solidFill>
                  <a:srgbClr val="2C2C2C"/>
                </a:solidFill>
                <a:latin typeface="Calibri"/>
              </a:rPr>
              <a:t>• Stacked Cluster-News: MAE = 0.918, R² = 0.999688, Dir. Acc. = 0.515</a:t>
            </a:r>
          </a:p>
          <a:p>
            <a:pPr>
              <a:spcBef>
                <a:spcPts val="400"/>
              </a:spcBef>
              <a:spcAft>
                <a:spcPts val="200"/>
              </a:spcAft>
            </a:pPr>
            <a:r>
              <a:rPr sz="1400">
                <a:solidFill>
                  <a:srgbClr val="2C2C2C"/>
                </a:solidFill>
                <a:latin typeface="Calibri"/>
              </a:rPr>
              <a:t>• vs Baseline: MAE = 0.909, Dir. Acc. = 0.509 (lower directional signal)</a:t>
            </a:r>
          </a:p>
          <a:p>
            <a:pPr>
              <a:spcBef>
                <a:spcPts val="400"/>
              </a:spcBef>
              <a:spcAft>
                <a:spcPts val="200"/>
              </a:spcAft>
            </a:pPr>
            <a:r>
              <a:rPr sz="1400">
                <a:solidFill>
                  <a:srgbClr val="2C2C2C"/>
                </a:solidFill>
                <a:latin typeface="Calibri"/>
              </a:rPr>
              <a:t>• AMZN MAE ↓ 47% (15.1 → 10.8), GOOG MAE ↓ 46% (15.0 → 8.1)</a:t>
            </a:r>
          </a:p>
          <a:p>
            <a:pPr>
              <a:spcBef>
                <a:spcPts val="400"/>
              </a:spcBef>
              <a:spcAft>
                <a:spcPts val="200"/>
              </a:spcAft>
            </a:pPr>
            <a:r>
              <a:rPr sz="1400">
                <a:solidFill>
                  <a:srgbClr val="2C2C2C"/>
                </a:solidFill>
                <a:latin typeface="Calibri"/>
              </a:rPr>
              <a:t>• Optimal decay: L* = 10, λ* = 0.2 (robust flat optimum)</a:t>
            </a:r>
          </a:p>
        </p:txBody>
      </p:sp>
      <p:sp>
        <p:nvSpPr>
          <p:cNvPr id="9" name="TextBox 8"/>
          <p:cNvSpPr txBox="1"/>
          <p:nvPr/>
        </p:nvSpPr>
        <p:spPr>
          <a:xfrm>
            <a:off x="6400800" y="1188720"/>
            <a:ext cx="3657600" cy="457200"/>
          </a:xfrm>
          <a:prstGeom prst="rect">
            <a:avLst/>
          </a:prstGeom>
          <a:noFill/>
        </p:spPr>
        <p:txBody>
          <a:bodyPr wrap="square">
            <a:spAutoFit/>
          </a:bodyPr>
          <a:lstStyle/>
          <a:p>
            <a:pPr algn="l">
              <a:defRPr sz="1200" b="0">
                <a:solidFill>
                  <a:srgbClr val="2E86C1"/>
                </a:solidFill>
                <a:latin typeface="Calibri"/>
              </a:defRPr>
            </a:pPr>
            <a:r>
              <a:t>[Image: 02D_prediction_vs_actual_close_GOOG.png]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Innovation 2 — Multi-Horizon Meta-Signal</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486400" cy="2743200"/>
          </a:xfrm>
          <a:prstGeom prst="rect">
            <a:avLst/>
          </a:prstGeom>
          <a:noFill/>
        </p:spPr>
        <p:txBody>
          <a:bodyPr wrap="square">
            <a:spAutoFit/>
          </a:bodyPr>
          <a:lstStyle/>
          <a:p>
            <a:pPr>
              <a:spcBef>
                <a:spcPts val="400"/>
              </a:spcBef>
              <a:spcAft>
                <a:spcPts val="200"/>
              </a:spcAft>
            </a:pPr>
            <a:r>
              <a:rPr b="1" sz="1600">
                <a:solidFill>
                  <a:srgbClr val="2C2C2C"/>
                </a:solidFill>
                <a:latin typeface="Calibri"/>
              </a:rPr>
              <a:t>Problem: </a:t>
            </a:r>
            <a:r>
              <a:rPr sz="1600">
                <a:solidFill>
                  <a:srgbClr val="2C2C2C"/>
                </a:solidFill>
                <a:latin typeface="Calibri"/>
              </a:rPr>
              <a:t>T+1 optimises point accuracy but ignores portfolio rebalancing horizon</a:t>
            </a:r>
          </a:p>
          <a:p>
            <a:pPr>
              <a:spcBef>
                <a:spcPts val="400"/>
              </a:spcBef>
              <a:spcAft>
                <a:spcPts val="200"/>
              </a:spcAft>
            </a:pPr>
            <a:r>
              <a:rPr b="1" sz="1600">
                <a:solidFill>
                  <a:srgbClr val="2C2C2C"/>
                </a:solidFill>
                <a:latin typeface="Calibri"/>
              </a:rPr>
              <a:t>Solution: </a:t>
            </a:r>
            <a:r>
              <a:rPr sz="1600">
                <a:solidFill>
                  <a:srgbClr val="2C2C2C"/>
                </a:solidFill>
                <a:latin typeface="Calibri"/>
              </a:rPr>
              <a:t>Train T+5, T+10, T+15 XGBoost heads → combine via meta-learner</a:t>
            </a:r>
          </a:p>
          <a:p>
            <a:pPr>
              <a:spcBef>
                <a:spcPts val="400"/>
              </a:spcBef>
              <a:spcAft>
                <a:spcPts val="200"/>
              </a:spcAft>
            </a:pPr>
            <a:r>
              <a:rPr b="1" sz="1600">
                <a:solidFill>
                  <a:srgbClr val="2C2C2C"/>
                </a:solidFill>
                <a:latin typeface="Calibri"/>
              </a:rPr>
              <a:t>Meta-Score: </a:t>
            </a:r>
            <a:r>
              <a:rPr sz="1600">
                <a:solidFill>
                  <a:srgbClr val="2C2C2C"/>
                </a:solidFill>
                <a:latin typeface="Calibri"/>
              </a:rPr>
              <a:t>T1Proxy × RegimeFilter × VelocityAlign</a:t>
            </a:r>
          </a:p>
          <a:p>
            <a:pPr>
              <a:spcBef>
                <a:spcPts val="400"/>
              </a:spcBef>
              <a:spcAft>
                <a:spcPts val="200"/>
              </a:spcAft>
            </a:pPr>
            <a:r>
              <a:rPr b="1" sz="1600">
                <a:solidFill>
                  <a:srgbClr val="2C2C2C"/>
                </a:solidFill>
                <a:latin typeface="Calibri"/>
              </a:rPr>
              <a:t>3 filters: </a:t>
            </a:r>
            <a:r>
              <a:rPr sz="1600">
                <a:solidFill>
                  <a:srgbClr val="2C2C2C"/>
                </a:solidFill>
                <a:latin typeface="Calibri"/>
              </a:rPr>
              <a:t>VIX-conditional weighting, direction alignment, sentiment-velocity alignment</a:t>
            </a:r>
          </a:p>
          <a:p>
            <a:pPr>
              <a:spcBef>
                <a:spcPts val="400"/>
              </a:spcBef>
              <a:spcAft>
                <a:spcPts val="200"/>
              </a:spcAft>
            </a:pPr>
            <a:r>
              <a:rPr b="1" sz="1600">
                <a:solidFill>
                  <a:srgbClr val="2C2C2C"/>
                </a:solidFill>
                <a:latin typeface="Calibri"/>
              </a:rPr>
              <a:t>Ridge meta-learner: </a:t>
            </a:r>
            <a:r>
              <a:rPr sz="1600">
                <a:solidFill>
                  <a:srgbClr val="2C2C2C"/>
                </a:solidFill>
                <a:latin typeface="Calibri"/>
              </a:rPr>
              <a:t>most stable; XGB meta-learner also profitable</a:t>
            </a:r>
          </a:p>
        </p:txBody>
      </p:sp>
      <p:sp>
        <p:nvSpPr>
          <p:cNvPr id="6" name="Rectangle 5"/>
          <p:cNvSpPr/>
          <p:nvPr/>
        </p:nvSpPr>
        <p:spPr>
          <a:xfrm>
            <a:off x="457200" y="4114800"/>
            <a:ext cx="11155680" cy="2560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206240"/>
            <a:ext cx="10789920" cy="365760"/>
          </a:xfrm>
          <a:prstGeom prst="rect">
            <a:avLst/>
          </a:prstGeom>
          <a:noFill/>
        </p:spPr>
        <p:txBody>
          <a:bodyPr wrap="square">
            <a:spAutoFit/>
          </a:bodyPr>
          <a:lstStyle/>
          <a:p>
            <a:pPr algn="l">
              <a:defRPr sz="1700" b="1">
                <a:solidFill>
                  <a:srgbClr val="1B3A5C"/>
                </a:solidFill>
                <a:latin typeface="Calibri"/>
              </a:defRPr>
            </a:pPr>
            <a:r>
              <a:t>Table 6: Multi-Horizon Backtest Performance</a:t>
            </a:r>
          </a:p>
        </p:txBody>
      </p:sp>
      <p:sp>
        <p:nvSpPr>
          <p:cNvPr id="8" name="TextBox 7"/>
          <p:cNvSpPr txBox="1"/>
          <p:nvPr/>
        </p:nvSpPr>
        <p:spPr>
          <a:xfrm>
            <a:off x="640080" y="4663440"/>
            <a:ext cx="3200400" cy="320040"/>
          </a:xfrm>
          <a:prstGeom prst="rect">
            <a:avLst/>
          </a:prstGeom>
          <a:noFill/>
        </p:spPr>
        <p:txBody>
          <a:bodyPr wrap="square">
            <a:spAutoFit/>
          </a:bodyPr>
          <a:lstStyle/>
          <a:p>
            <a:pPr algn="l">
              <a:defRPr sz="1300" b="1">
                <a:solidFill>
                  <a:srgbClr val="1B3A5C"/>
                </a:solidFill>
                <a:latin typeface="Calibri"/>
              </a:defRPr>
            </a:pPr>
            <a:r>
              <a:t>Strategy</a:t>
            </a:r>
          </a:p>
        </p:txBody>
      </p:sp>
      <p:sp>
        <p:nvSpPr>
          <p:cNvPr id="9" name="TextBox 8"/>
          <p:cNvSpPr txBox="1"/>
          <p:nvPr/>
        </p:nvSpPr>
        <p:spPr>
          <a:xfrm>
            <a:off x="4114800" y="4663440"/>
            <a:ext cx="1188720" cy="320040"/>
          </a:xfrm>
          <a:prstGeom prst="rect">
            <a:avLst/>
          </a:prstGeom>
          <a:noFill/>
        </p:spPr>
        <p:txBody>
          <a:bodyPr wrap="square">
            <a:spAutoFit/>
          </a:bodyPr>
          <a:lstStyle/>
          <a:p>
            <a:pPr algn="ctr">
              <a:defRPr sz="1300" b="1">
                <a:solidFill>
                  <a:srgbClr val="1B3A5C"/>
                </a:solidFill>
                <a:latin typeface="Calibri"/>
              </a:defRPr>
            </a:pPr>
            <a:r>
              <a:t>Sharpe</a:t>
            </a:r>
          </a:p>
        </p:txBody>
      </p:sp>
      <p:sp>
        <p:nvSpPr>
          <p:cNvPr id="10" name="TextBox 9"/>
          <p:cNvSpPr txBox="1"/>
          <p:nvPr/>
        </p:nvSpPr>
        <p:spPr>
          <a:xfrm>
            <a:off x="5486400" y="4663440"/>
            <a:ext cx="1188720" cy="320040"/>
          </a:xfrm>
          <a:prstGeom prst="rect">
            <a:avLst/>
          </a:prstGeom>
          <a:noFill/>
        </p:spPr>
        <p:txBody>
          <a:bodyPr wrap="square">
            <a:spAutoFit/>
          </a:bodyPr>
          <a:lstStyle/>
          <a:p>
            <a:pPr algn="ctr">
              <a:defRPr sz="1300" b="1">
                <a:solidFill>
                  <a:srgbClr val="1B3A5C"/>
                </a:solidFill>
                <a:latin typeface="Calibri"/>
              </a:defRPr>
            </a:pPr>
            <a:r>
              <a:t>Max DD</a:t>
            </a:r>
          </a:p>
        </p:txBody>
      </p:sp>
      <p:sp>
        <p:nvSpPr>
          <p:cNvPr id="11" name="TextBox 10"/>
          <p:cNvSpPr txBox="1"/>
          <p:nvPr/>
        </p:nvSpPr>
        <p:spPr>
          <a:xfrm>
            <a:off x="6858000" y="4663440"/>
            <a:ext cx="1188720" cy="320040"/>
          </a:xfrm>
          <a:prstGeom prst="rect">
            <a:avLst/>
          </a:prstGeom>
          <a:noFill/>
        </p:spPr>
        <p:txBody>
          <a:bodyPr wrap="square">
            <a:spAutoFit/>
          </a:bodyPr>
          <a:lstStyle/>
          <a:p>
            <a:pPr algn="ctr">
              <a:defRPr sz="1300" b="1">
                <a:solidFill>
                  <a:srgbClr val="1B3A5C"/>
                </a:solidFill>
                <a:latin typeface="Calibri"/>
              </a:defRPr>
            </a:pPr>
            <a:r>
              <a:t>Return</a:t>
            </a:r>
          </a:p>
        </p:txBody>
      </p:sp>
      <p:sp>
        <p:nvSpPr>
          <p:cNvPr id="12" name="TextBox 11"/>
          <p:cNvSpPr txBox="1"/>
          <p:nvPr/>
        </p:nvSpPr>
        <p:spPr>
          <a:xfrm>
            <a:off x="8229600" y="4663440"/>
            <a:ext cx="1188720" cy="320040"/>
          </a:xfrm>
          <a:prstGeom prst="rect">
            <a:avLst/>
          </a:prstGeom>
          <a:noFill/>
        </p:spPr>
        <p:txBody>
          <a:bodyPr wrap="square">
            <a:spAutoFit/>
          </a:bodyPr>
          <a:lstStyle/>
          <a:p>
            <a:pPr algn="ctr">
              <a:defRPr sz="1300" b="1">
                <a:solidFill>
                  <a:srgbClr val="1B3A5C"/>
                </a:solidFill>
                <a:latin typeface="Calibri"/>
              </a:defRPr>
            </a:pPr>
            <a:r>
              <a:t>DHR</a:t>
            </a:r>
          </a:p>
        </p:txBody>
      </p:sp>
      <p:sp>
        <p:nvSpPr>
          <p:cNvPr id="13" name="TextBox 12"/>
          <p:cNvSpPr txBox="1"/>
          <p:nvPr/>
        </p:nvSpPr>
        <p:spPr>
          <a:xfrm>
            <a:off x="9601200" y="4663440"/>
            <a:ext cx="1188720" cy="320040"/>
          </a:xfrm>
          <a:prstGeom prst="rect">
            <a:avLst/>
          </a:prstGeom>
          <a:noFill/>
        </p:spPr>
        <p:txBody>
          <a:bodyPr wrap="square">
            <a:spAutoFit/>
          </a:bodyPr>
          <a:lstStyle/>
          <a:p>
            <a:pPr algn="ctr">
              <a:defRPr sz="1300" b="1">
                <a:solidFill>
                  <a:srgbClr val="1B3A5C"/>
                </a:solidFill>
                <a:latin typeface="Calibri"/>
              </a:defRPr>
            </a:pPr>
            <a:r>
              <a:t>Trades</a:t>
            </a:r>
          </a:p>
        </p:txBody>
      </p:sp>
      <p:sp>
        <p:nvSpPr>
          <p:cNvPr id="14" name="TextBox 13"/>
          <p:cNvSpPr txBox="1"/>
          <p:nvPr/>
        </p:nvSpPr>
        <p:spPr>
          <a:xfrm>
            <a:off x="640080" y="4983480"/>
            <a:ext cx="3200400" cy="310896"/>
          </a:xfrm>
          <a:prstGeom prst="rect">
            <a:avLst/>
          </a:prstGeom>
          <a:noFill/>
        </p:spPr>
        <p:txBody>
          <a:bodyPr wrap="square">
            <a:spAutoFit/>
          </a:bodyPr>
          <a:lstStyle/>
          <a:p>
            <a:pPr algn="l">
              <a:defRPr sz="1200" b="0">
                <a:solidFill>
                  <a:srgbClr val="2C2C2C"/>
                </a:solidFill>
                <a:latin typeface="Calibri"/>
              </a:defRPr>
            </a:pPr>
            <a:r>
              <a:t>T+1 Only (02D proxy)</a:t>
            </a:r>
          </a:p>
        </p:txBody>
      </p:sp>
      <p:sp>
        <p:nvSpPr>
          <p:cNvPr id="15" name="TextBox 14"/>
          <p:cNvSpPr txBox="1"/>
          <p:nvPr/>
        </p:nvSpPr>
        <p:spPr>
          <a:xfrm>
            <a:off x="4114800" y="4983480"/>
            <a:ext cx="1188720" cy="310896"/>
          </a:xfrm>
          <a:prstGeom prst="rect">
            <a:avLst/>
          </a:prstGeom>
          <a:noFill/>
        </p:spPr>
        <p:txBody>
          <a:bodyPr wrap="square">
            <a:spAutoFit/>
          </a:bodyPr>
          <a:lstStyle/>
          <a:p>
            <a:pPr algn="ctr">
              <a:defRPr sz="1200" b="0">
                <a:solidFill>
                  <a:srgbClr val="2C2C2C"/>
                </a:solidFill>
                <a:latin typeface="Calibri"/>
              </a:defRPr>
            </a:pPr>
            <a:r>
              <a:t>2.42</a:t>
            </a:r>
          </a:p>
        </p:txBody>
      </p:sp>
      <p:sp>
        <p:nvSpPr>
          <p:cNvPr id="16" name="TextBox 15"/>
          <p:cNvSpPr txBox="1"/>
          <p:nvPr/>
        </p:nvSpPr>
        <p:spPr>
          <a:xfrm>
            <a:off x="5486400" y="4983480"/>
            <a:ext cx="1188720" cy="310896"/>
          </a:xfrm>
          <a:prstGeom prst="rect">
            <a:avLst/>
          </a:prstGeom>
          <a:noFill/>
        </p:spPr>
        <p:txBody>
          <a:bodyPr wrap="square">
            <a:spAutoFit/>
          </a:bodyPr>
          <a:lstStyle/>
          <a:p>
            <a:pPr algn="ctr">
              <a:defRPr sz="1200" b="0">
                <a:solidFill>
                  <a:srgbClr val="2C2C2C"/>
                </a:solidFill>
                <a:latin typeface="Calibri"/>
              </a:defRPr>
            </a:pPr>
            <a:r>
              <a:t>−2.1%</a:t>
            </a:r>
          </a:p>
        </p:txBody>
      </p:sp>
      <p:sp>
        <p:nvSpPr>
          <p:cNvPr id="17" name="TextBox 16"/>
          <p:cNvSpPr txBox="1"/>
          <p:nvPr/>
        </p:nvSpPr>
        <p:spPr>
          <a:xfrm>
            <a:off x="6858000" y="4983480"/>
            <a:ext cx="1188720" cy="310896"/>
          </a:xfrm>
          <a:prstGeom prst="rect">
            <a:avLst/>
          </a:prstGeom>
          <a:noFill/>
        </p:spPr>
        <p:txBody>
          <a:bodyPr wrap="square">
            <a:spAutoFit/>
          </a:bodyPr>
          <a:lstStyle/>
          <a:p>
            <a:pPr algn="ctr">
              <a:defRPr sz="1200" b="0">
                <a:solidFill>
                  <a:srgbClr val="2C2C2C"/>
                </a:solidFill>
                <a:latin typeface="Calibri"/>
              </a:defRPr>
            </a:pPr>
            <a:r>
              <a:t>3.3%</a:t>
            </a:r>
          </a:p>
        </p:txBody>
      </p:sp>
      <p:sp>
        <p:nvSpPr>
          <p:cNvPr id="18" name="TextBox 17"/>
          <p:cNvSpPr txBox="1"/>
          <p:nvPr/>
        </p:nvSpPr>
        <p:spPr>
          <a:xfrm>
            <a:off x="8229600" y="4983480"/>
            <a:ext cx="1188720" cy="310896"/>
          </a:xfrm>
          <a:prstGeom prst="rect">
            <a:avLst/>
          </a:prstGeom>
          <a:noFill/>
        </p:spPr>
        <p:txBody>
          <a:bodyPr wrap="square">
            <a:spAutoFit/>
          </a:bodyPr>
          <a:lstStyle/>
          <a:p>
            <a:pPr algn="ctr">
              <a:defRPr sz="1200" b="0">
                <a:solidFill>
                  <a:srgbClr val="2C2C2C"/>
                </a:solidFill>
                <a:latin typeface="Calibri"/>
              </a:defRPr>
            </a:pPr>
            <a:r>
              <a:t>0.575</a:t>
            </a:r>
          </a:p>
        </p:txBody>
      </p:sp>
      <p:sp>
        <p:nvSpPr>
          <p:cNvPr id="19" name="TextBox 18"/>
          <p:cNvSpPr txBox="1"/>
          <p:nvPr/>
        </p:nvSpPr>
        <p:spPr>
          <a:xfrm>
            <a:off x="9601200" y="4983480"/>
            <a:ext cx="1188720" cy="310896"/>
          </a:xfrm>
          <a:prstGeom prst="rect">
            <a:avLst/>
          </a:prstGeom>
          <a:noFill/>
        </p:spPr>
        <p:txBody>
          <a:bodyPr wrap="square">
            <a:spAutoFit/>
          </a:bodyPr>
          <a:lstStyle/>
          <a:p>
            <a:pPr algn="ctr">
              <a:defRPr sz="1200" b="0">
                <a:solidFill>
                  <a:srgbClr val="2C2C2C"/>
                </a:solidFill>
                <a:latin typeface="Calibri"/>
              </a:defRPr>
            </a:pPr>
            <a:r>
              <a:t>47</a:t>
            </a:r>
          </a:p>
        </p:txBody>
      </p:sp>
      <p:sp>
        <p:nvSpPr>
          <p:cNvPr id="20" name="TextBox 19"/>
          <p:cNvSpPr txBox="1"/>
          <p:nvPr/>
        </p:nvSpPr>
        <p:spPr>
          <a:xfrm>
            <a:off x="640080" y="5303520"/>
            <a:ext cx="3200400" cy="310896"/>
          </a:xfrm>
          <a:prstGeom prst="rect">
            <a:avLst/>
          </a:prstGeom>
          <a:noFill/>
        </p:spPr>
        <p:txBody>
          <a:bodyPr wrap="square">
            <a:spAutoFit/>
          </a:bodyPr>
          <a:lstStyle/>
          <a:p>
            <a:pPr algn="l">
              <a:defRPr sz="1200" b="0">
                <a:solidFill>
                  <a:srgbClr val="2C2C2C"/>
                </a:solidFill>
                <a:latin typeface="Calibri"/>
              </a:defRPr>
            </a:pPr>
            <a:r>
              <a:t>T+15 Only (02E)</a:t>
            </a:r>
          </a:p>
        </p:txBody>
      </p:sp>
      <p:sp>
        <p:nvSpPr>
          <p:cNvPr id="21" name="TextBox 20"/>
          <p:cNvSpPr txBox="1"/>
          <p:nvPr/>
        </p:nvSpPr>
        <p:spPr>
          <a:xfrm>
            <a:off x="4114800" y="5303520"/>
            <a:ext cx="1188720" cy="310896"/>
          </a:xfrm>
          <a:prstGeom prst="rect">
            <a:avLst/>
          </a:prstGeom>
          <a:noFill/>
        </p:spPr>
        <p:txBody>
          <a:bodyPr wrap="square">
            <a:spAutoFit/>
          </a:bodyPr>
          <a:lstStyle/>
          <a:p>
            <a:pPr algn="ctr">
              <a:defRPr sz="1200" b="0">
                <a:solidFill>
                  <a:srgbClr val="2C2C2C"/>
                </a:solidFill>
                <a:latin typeface="Calibri"/>
              </a:defRPr>
            </a:pPr>
            <a:r>
              <a:t>−5.85</a:t>
            </a:r>
          </a:p>
        </p:txBody>
      </p:sp>
      <p:sp>
        <p:nvSpPr>
          <p:cNvPr id="22" name="TextBox 21"/>
          <p:cNvSpPr txBox="1"/>
          <p:nvPr/>
        </p:nvSpPr>
        <p:spPr>
          <a:xfrm>
            <a:off x="5486400" y="5303520"/>
            <a:ext cx="1188720" cy="310896"/>
          </a:xfrm>
          <a:prstGeom prst="rect">
            <a:avLst/>
          </a:prstGeom>
          <a:noFill/>
        </p:spPr>
        <p:txBody>
          <a:bodyPr wrap="square">
            <a:spAutoFit/>
          </a:bodyPr>
          <a:lstStyle/>
          <a:p>
            <a:pPr algn="ctr">
              <a:defRPr sz="1200" b="0">
                <a:solidFill>
                  <a:srgbClr val="2C2C2C"/>
                </a:solidFill>
                <a:latin typeface="Calibri"/>
              </a:defRPr>
            </a:pPr>
            <a:r>
              <a:t>−7.6%</a:t>
            </a:r>
          </a:p>
        </p:txBody>
      </p:sp>
      <p:sp>
        <p:nvSpPr>
          <p:cNvPr id="23" name="TextBox 22"/>
          <p:cNvSpPr txBox="1"/>
          <p:nvPr/>
        </p:nvSpPr>
        <p:spPr>
          <a:xfrm>
            <a:off x="6858000" y="5303520"/>
            <a:ext cx="1188720" cy="310896"/>
          </a:xfrm>
          <a:prstGeom prst="rect">
            <a:avLst/>
          </a:prstGeom>
          <a:noFill/>
        </p:spPr>
        <p:txBody>
          <a:bodyPr wrap="square">
            <a:spAutoFit/>
          </a:bodyPr>
          <a:lstStyle/>
          <a:p>
            <a:pPr algn="ctr">
              <a:defRPr sz="1200" b="0">
                <a:solidFill>
                  <a:srgbClr val="2C2C2C"/>
                </a:solidFill>
                <a:latin typeface="Calibri"/>
              </a:defRPr>
            </a:pPr>
            <a:r>
              <a:t>−7.4%</a:t>
            </a:r>
          </a:p>
        </p:txBody>
      </p:sp>
      <p:sp>
        <p:nvSpPr>
          <p:cNvPr id="24" name="TextBox 23"/>
          <p:cNvSpPr txBox="1"/>
          <p:nvPr/>
        </p:nvSpPr>
        <p:spPr>
          <a:xfrm>
            <a:off x="8229600" y="5303520"/>
            <a:ext cx="1188720" cy="310896"/>
          </a:xfrm>
          <a:prstGeom prst="rect">
            <a:avLst/>
          </a:prstGeom>
          <a:noFill/>
        </p:spPr>
        <p:txBody>
          <a:bodyPr wrap="square">
            <a:spAutoFit/>
          </a:bodyPr>
          <a:lstStyle/>
          <a:p>
            <a:pPr algn="ctr">
              <a:defRPr sz="1200" b="0">
                <a:solidFill>
                  <a:srgbClr val="2C2C2C"/>
                </a:solidFill>
                <a:latin typeface="Calibri"/>
              </a:defRPr>
            </a:pPr>
            <a:r>
              <a:t>0.404</a:t>
            </a:r>
          </a:p>
        </p:txBody>
      </p:sp>
      <p:sp>
        <p:nvSpPr>
          <p:cNvPr id="25" name="TextBox 24"/>
          <p:cNvSpPr txBox="1"/>
          <p:nvPr/>
        </p:nvSpPr>
        <p:spPr>
          <a:xfrm>
            <a:off x="9601200" y="5303520"/>
            <a:ext cx="1188720" cy="310896"/>
          </a:xfrm>
          <a:prstGeom prst="rect">
            <a:avLst/>
          </a:prstGeom>
          <a:noFill/>
        </p:spPr>
        <p:txBody>
          <a:bodyPr wrap="square">
            <a:spAutoFit/>
          </a:bodyPr>
          <a:lstStyle/>
          <a:p>
            <a:pPr algn="ctr">
              <a:defRPr sz="1200" b="0">
                <a:solidFill>
                  <a:srgbClr val="2C2C2C"/>
                </a:solidFill>
                <a:latin typeface="Calibri"/>
              </a:defRPr>
            </a:pPr>
            <a:r>
              <a:t>47</a:t>
            </a:r>
          </a:p>
        </p:txBody>
      </p:sp>
      <p:sp>
        <p:nvSpPr>
          <p:cNvPr id="26" name="TextBox 25"/>
          <p:cNvSpPr txBox="1"/>
          <p:nvPr/>
        </p:nvSpPr>
        <p:spPr>
          <a:xfrm>
            <a:off x="640080" y="5623559"/>
            <a:ext cx="3200400" cy="310896"/>
          </a:xfrm>
          <a:prstGeom prst="rect">
            <a:avLst/>
          </a:prstGeom>
          <a:noFill/>
        </p:spPr>
        <p:txBody>
          <a:bodyPr wrap="square">
            <a:spAutoFit/>
          </a:bodyPr>
          <a:lstStyle/>
          <a:p>
            <a:pPr algn="l">
              <a:defRPr sz="1200" b="0">
                <a:solidFill>
                  <a:srgbClr val="2C2C2C"/>
                </a:solidFill>
                <a:latin typeface="Calibri"/>
              </a:defRPr>
            </a:pPr>
            <a:r>
              <a:t>Rule-Based Meta (02F)</a:t>
            </a:r>
          </a:p>
        </p:txBody>
      </p:sp>
      <p:sp>
        <p:nvSpPr>
          <p:cNvPr id="27" name="TextBox 26"/>
          <p:cNvSpPr txBox="1"/>
          <p:nvPr/>
        </p:nvSpPr>
        <p:spPr>
          <a:xfrm>
            <a:off x="4114800" y="5623559"/>
            <a:ext cx="1188720" cy="310896"/>
          </a:xfrm>
          <a:prstGeom prst="rect">
            <a:avLst/>
          </a:prstGeom>
          <a:noFill/>
        </p:spPr>
        <p:txBody>
          <a:bodyPr wrap="square">
            <a:spAutoFit/>
          </a:bodyPr>
          <a:lstStyle/>
          <a:p>
            <a:pPr algn="ctr">
              <a:defRPr sz="1200" b="0">
                <a:solidFill>
                  <a:srgbClr val="2C2C2C"/>
                </a:solidFill>
                <a:latin typeface="Calibri"/>
              </a:defRPr>
            </a:pPr>
            <a:r>
              <a:t>2.42</a:t>
            </a:r>
          </a:p>
        </p:txBody>
      </p:sp>
      <p:sp>
        <p:nvSpPr>
          <p:cNvPr id="28" name="TextBox 27"/>
          <p:cNvSpPr txBox="1"/>
          <p:nvPr/>
        </p:nvSpPr>
        <p:spPr>
          <a:xfrm>
            <a:off x="5486400" y="5623559"/>
            <a:ext cx="1188720" cy="310896"/>
          </a:xfrm>
          <a:prstGeom prst="rect">
            <a:avLst/>
          </a:prstGeom>
          <a:noFill/>
        </p:spPr>
        <p:txBody>
          <a:bodyPr wrap="square">
            <a:spAutoFit/>
          </a:bodyPr>
          <a:lstStyle/>
          <a:p>
            <a:pPr algn="ctr">
              <a:defRPr sz="1200" b="0">
                <a:solidFill>
                  <a:srgbClr val="2C2C2C"/>
                </a:solidFill>
                <a:latin typeface="Calibri"/>
              </a:defRPr>
            </a:pPr>
            <a:r>
              <a:t>−2.1%</a:t>
            </a:r>
          </a:p>
        </p:txBody>
      </p:sp>
      <p:sp>
        <p:nvSpPr>
          <p:cNvPr id="29" name="TextBox 28"/>
          <p:cNvSpPr txBox="1"/>
          <p:nvPr/>
        </p:nvSpPr>
        <p:spPr>
          <a:xfrm>
            <a:off x="6858000" y="5623559"/>
            <a:ext cx="1188720" cy="310896"/>
          </a:xfrm>
          <a:prstGeom prst="rect">
            <a:avLst/>
          </a:prstGeom>
          <a:noFill/>
        </p:spPr>
        <p:txBody>
          <a:bodyPr wrap="square">
            <a:spAutoFit/>
          </a:bodyPr>
          <a:lstStyle/>
          <a:p>
            <a:pPr algn="ctr">
              <a:defRPr sz="1200" b="0">
                <a:solidFill>
                  <a:srgbClr val="2C2C2C"/>
                </a:solidFill>
                <a:latin typeface="Calibri"/>
              </a:defRPr>
            </a:pPr>
            <a:r>
              <a:t>3.3%</a:t>
            </a:r>
          </a:p>
        </p:txBody>
      </p:sp>
      <p:sp>
        <p:nvSpPr>
          <p:cNvPr id="30" name="TextBox 29"/>
          <p:cNvSpPr txBox="1"/>
          <p:nvPr/>
        </p:nvSpPr>
        <p:spPr>
          <a:xfrm>
            <a:off x="8229600" y="5623559"/>
            <a:ext cx="1188720" cy="310896"/>
          </a:xfrm>
          <a:prstGeom prst="rect">
            <a:avLst/>
          </a:prstGeom>
          <a:noFill/>
        </p:spPr>
        <p:txBody>
          <a:bodyPr wrap="square">
            <a:spAutoFit/>
          </a:bodyPr>
          <a:lstStyle/>
          <a:p>
            <a:pPr algn="ctr">
              <a:defRPr sz="1200" b="0">
                <a:solidFill>
                  <a:srgbClr val="2C2C2C"/>
                </a:solidFill>
                <a:latin typeface="Calibri"/>
              </a:defRPr>
            </a:pPr>
            <a:r>
              <a:t>0.575</a:t>
            </a:r>
          </a:p>
        </p:txBody>
      </p:sp>
      <p:sp>
        <p:nvSpPr>
          <p:cNvPr id="31" name="TextBox 30"/>
          <p:cNvSpPr txBox="1"/>
          <p:nvPr/>
        </p:nvSpPr>
        <p:spPr>
          <a:xfrm>
            <a:off x="9601200" y="5623559"/>
            <a:ext cx="1188720" cy="310896"/>
          </a:xfrm>
          <a:prstGeom prst="rect">
            <a:avLst/>
          </a:prstGeom>
          <a:noFill/>
        </p:spPr>
        <p:txBody>
          <a:bodyPr wrap="square">
            <a:spAutoFit/>
          </a:bodyPr>
          <a:lstStyle/>
          <a:p>
            <a:pPr algn="ctr">
              <a:defRPr sz="1200" b="0">
                <a:solidFill>
                  <a:srgbClr val="2C2C2C"/>
                </a:solidFill>
                <a:latin typeface="Calibri"/>
              </a:defRPr>
            </a:pPr>
            <a:r>
              <a:t>47</a:t>
            </a:r>
          </a:p>
        </p:txBody>
      </p:sp>
      <p:sp>
        <p:nvSpPr>
          <p:cNvPr id="32" name="Rectangle 31"/>
          <p:cNvSpPr/>
          <p:nvPr/>
        </p:nvSpPr>
        <p:spPr>
          <a:xfrm>
            <a:off x="548640" y="5943600"/>
            <a:ext cx="10424160" cy="310896"/>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943600"/>
            <a:ext cx="3200400" cy="310896"/>
          </a:xfrm>
          <a:prstGeom prst="rect">
            <a:avLst/>
          </a:prstGeom>
          <a:noFill/>
        </p:spPr>
        <p:txBody>
          <a:bodyPr wrap="square">
            <a:spAutoFit/>
          </a:bodyPr>
          <a:lstStyle/>
          <a:p>
            <a:pPr algn="l">
              <a:defRPr sz="1200" b="1">
                <a:solidFill>
                  <a:srgbClr val="27AE60"/>
                </a:solidFill>
                <a:latin typeface="Calibri"/>
              </a:defRPr>
            </a:pPr>
            <a:r>
              <a:t>Learned Meta Ridge ★</a:t>
            </a:r>
          </a:p>
        </p:txBody>
      </p:sp>
      <p:sp>
        <p:nvSpPr>
          <p:cNvPr id="34" name="TextBox 33"/>
          <p:cNvSpPr txBox="1"/>
          <p:nvPr/>
        </p:nvSpPr>
        <p:spPr>
          <a:xfrm>
            <a:off x="4114800" y="5943600"/>
            <a:ext cx="1188720" cy="310896"/>
          </a:xfrm>
          <a:prstGeom prst="rect">
            <a:avLst/>
          </a:prstGeom>
          <a:noFill/>
        </p:spPr>
        <p:txBody>
          <a:bodyPr wrap="square">
            <a:spAutoFit/>
          </a:bodyPr>
          <a:lstStyle/>
          <a:p>
            <a:pPr algn="ctr">
              <a:defRPr sz="1200" b="1">
                <a:solidFill>
                  <a:srgbClr val="27AE60"/>
                </a:solidFill>
                <a:latin typeface="Calibri"/>
              </a:defRPr>
            </a:pPr>
            <a:r>
              <a:t>8.10</a:t>
            </a:r>
          </a:p>
        </p:txBody>
      </p:sp>
      <p:sp>
        <p:nvSpPr>
          <p:cNvPr id="35" name="TextBox 34"/>
          <p:cNvSpPr txBox="1"/>
          <p:nvPr/>
        </p:nvSpPr>
        <p:spPr>
          <a:xfrm>
            <a:off x="5486400" y="5943600"/>
            <a:ext cx="1188720" cy="310896"/>
          </a:xfrm>
          <a:prstGeom prst="rect">
            <a:avLst/>
          </a:prstGeom>
          <a:noFill/>
        </p:spPr>
        <p:txBody>
          <a:bodyPr wrap="square">
            <a:spAutoFit/>
          </a:bodyPr>
          <a:lstStyle/>
          <a:p>
            <a:pPr algn="ctr">
              <a:defRPr sz="1200" b="1">
                <a:solidFill>
                  <a:srgbClr val="27AE60"/>
                </a:solidFill>
                <a:latin typeface="Calibri"/>
              </a:defRPr>
            </a:pPr>
            <a:r>
              <a:t>−0.8%</a:t>
            </a:r>
          </a:p>
        </p:txBody>
      </p:sp>
      <p:sp>
        <p:nvSpPr>
          <p:cNvPr id="36" name="TextBox 35"/>
          <p:cNvSpPr txBox="1"/>
          <p:nvPr/>
        </p:nvSpPr>
        <p:spPr>
          <a:xfrm>
            <a:off x="6858000" y="5943600"/>
            <a:ext cx="1188720" cy="310896"/>
          </a:xfrm>
          <a:prstGeom prst="rect">
            <a:avLst/>
          </a:prstGeom>
          <a:noFill/>
        </p:spPr>
        <p:txBody>
          <a:bodyPr wrap="square">
            <a:spAutoFit/>
          </a:bodyPr>
          <a:lstStyle/>
          <a:p>
            <a:pPr algn="ctr">
              <a:defRPr sz="1200" b="1">
                <a:solidFill>
                  <a:srgbClr val="27AE60"/>
                </a:solidFill>
                <a:latin typeface="Calibri"/>
              </a:defRPr>
            </a:pPr>
            <a:r>
              <a:t>10.5%</a:t>
            </a:r>
          </a:p>
        </p:txBody>
      </p:sp>
      <p:sp>
        <p:nvSpPr>
          <p:cNvPr id="37" name="TextBox 36"/>
          <p:cNvSpPr txBox="1"/>
          <p:nvPr/>
        </p:nvSpPr>
        <p:spPr>
          <a:xfrm>
            <a:off x="8229600" y="5943600"/>
            <a:ext cx="1188720" cy="310896"/>
          </a:xfrm>
          <a:prstGeom prst="rect">
            <a:avLst/>
          </a:prstGeom>
          <a:noFill/>
        </p:spPr>
        <p:txBody>
          <a:bodyPr wrap="square">
            <a:spAutoFit/>
          </a:bodyPr>
          <a:lstStyle/>
          <a:p>
            <a:pPr algn="ctr">
              <a:defRPr sz="1200" b="1">
                <a:solidFill>
                  <a:srgbClr val="27AE60"/>
                </a:solidFill>
                <a:latin typeface="Calibri"/>
              </a:defRPr>
            </a:pPr>
            <a:r>
              <a:t>0.681</a:t>
            </a:r>
          </a:p>
        </p:txBody>
      </p:sp>
      <p:sp>
        <p:nvSpPr>
          <p:cNvPr id="38" name="TextBox 37"/>
          <p:cNvSpPr txBox="1"/>
          <p:nvPr/>
        </p:nvSpPr>
        <p:spPr>
          <a:xfrm>
            <a:off x="9601200" y="5943600"/>
            <a:ext cx="1188720" cy="310896"/>
          </a:xfrm>
          <a:prstGeom prst="rect">
            <a:avLst/>
          </a:prstGeom>
          <a:noFill/>
        </p:spPr>
        <p:txBody>
          <a:bodyPr wrap="square">
            <a:spAutoFit/>
          </a:bodyPr>
          <a:lstStyle/>
          <a:p>
            <a:pPr algn="ctr">
              <a:defRPr sz="1200" b="1">
                <a:solidFill>
                  <a:srgbClr val="27AE60"/>
                </a:solidFill>
                <a:latin typeface="Calibri"/>
              </a:defRPr>
            </a:pPr>
            <a:r>
              <a:t>47</a:t>
            </a:r>
          </a:p>
        </p:txBody>
      </p:sp>
      <p:sp>
        <p:nvSpPr>
          <p:cNvPr id="39" name="TextBox 38"/>
          <p:cNvSpPr txBox="1"/>
          <p:nvPr/>
        </p:nvSpPr>
        <p:spPr>
          <a:xfrm>
            <a:off x="640080" y="6263640"/>
            <a:ext cx="3200400" cy="310896"/>
          </a:xfrm>
          <a:prstGeom prst="rect">
            <a:avLst/>
          </a:prstGeom>
          <a:noFill/>
        </p:spPr>
        <p:txBody>
          <a:bodyPr wrap="square">
            <a:spAutoFit/>
          </a:bodyPr>
          <a:lstStyle/>
          <a:p>
            <a:pPr algn="l">
              <a:defRPr sz="1200" b="0">
                <a:solidFill>
                  <a:srgbClr val="2C2C2C"/>
                </a:solidFill>
                <a:latin typeface="Calibri"/>
              </a:defRPr>
            </a:pPr>
            <a:r>
              <a:t>Learned Meta XGB</a:t>
            </a:r>
          </a:p>
        </p:txBody>
      </p:sp>
      <p:sp>
        <p:nvSpPr>
          <p:cNvPr id="40" name="TextBox 39"/>
          <p:cNvSpPr txBox="1"/>
          <p:nvPr/>
        </p:nvSpPr>
        <p:spPr>
          <a:xfrm>
            <a:off x="4114800" y="6263640"/>
            <a:ext cx="1188720" cy="310896"/>
          </a:xfrm>
          <a:prstGeom prst="rect">
            <a:avLst/>
          </a:prstGeom>
          <a:noFill/>
        </p:spPr>
        <p:txBody>
          <a:bodyPr wrap="square">
            <a:spAutoFit/>
          </a:bodyPr>
          <a:lstStyle/>
          <a:p>
            <a:pPr algn="ctr">
              <a:defRPr sz="1200" b="0">
                <a:solidFill>
                  <a:srgbClr val="2C2C2C"/>
                </a:solidFill>
                <a:latin typeface="Calibri"/>
              </a:defRPr>
            </a:pPr>
            <a:r>
              <a:t>4.72</a:t>
            </a:r>
          </a:p>
        </p:txBody>
      </p:sp>
      <p:sp>
        <p:nvSpPr>
          <p:cNvPr id="41" name="TextBox 40"/>
          <p:cNvSpPr txBox="1"/>
          <p:nvPr/>
        </p:nvSpPr>
        <p:spPr>
          <a:xfrm>
            <a:off x="5486400" y="6263640"/>
            <a:ext cx="1188720" cy="310896"/>
          </a:xfrm>
          <a:prstGeom prst="rect">
            <a:avLst/>
          </a:prstGeom>
          <a:noFill/>
        </p:spPr>
        <p:txBody>
          <a:bodyPr wrap="square">
            <a:spAutoFit/>
          </a:bodyPr>
          <a:lstStyle/>
          <a:p>
            <a:pPr algn="ctr">
              <a:defRPr sz="1200" b="0">
                <a:solidFill>
                  <a:srgbClr val="2C2C2C"/>
                </a:solidFill>
                <a:latin typeface="Calibri"/>
              </a:defRPr>
            </a:pPr>
            <a:r>
              <a:t>−1.5%</a:t>
            </a:r>
          </a:p>
        </p:txBody>
      </p:sp>
      <p:sp>
        <p:nvSpPr>
          <p:cNvPr id="42" name="TextBox 41"/>
          <p:cNvSpPr txBox="1"/>
          <p:nvPr/>
        </p:nvSpPr>
        <p:spPr>
          <a:xfrm>
            <a:off x="6858000" y="6263640"/>
            <a:ext cx="1188720" cy="310896"/>
          </a:xfrm>
          <a:prstGeom prst="rect">
            <a:avLst/>
          </a:prstGeom>
          <a:noFill/>
        </p:spPr>
        <p:txBody>
          <a:bodyPr wrap="square">
            <a:spAutoFit/>
          </a:bodyPr>
          <a:lstStyle/>
          <a:p>
            <a:pPr algn="ctr">
              <a:defRPr sz="1200" b="0">
                <a:solidFill>
                  <a:srgbClr val="2C2C2C"/>
                </a:solidFill>
                <a:latin typeface="Calibri"/>
              </a:defRPr>
            </a:pPr>
            <a:r>
              <a:t>6.5%</a:t>
            </a:r>
          </a:p>
        </p:txBody>
      </p:sp>
      <p:sp>
        <p:nvSpPr>
          <p:cNvPr id="43" name="TextBox 42"/>
          <p:cNvSpPr txBox="1"/>
          <p:nvPr/>
        </p:nvSpPr>
        <p:spPr>
          <a:xfrm>
            <a:off x="8229600" y="6263640"/>
            <a:ext cx="1188720" cy="310896"/>
          </a:xfrm>
          <a:prstGeom prst="rect">
            <a:avLst/>
          </a:prstGeom>
          <a:noFill/>
        </p:spPr>
        <p:txBody>
          <a:bodyPr wrap="square">
            <a:spAutoFit/>
          </a:bodyPr>
          <a:lstStyle/>
          <a:p>
            <a:pPr algn="ctr">
              <a:defRPr sz="1200" b="0">
                <a:solidFill>
                  <a:srgbClr val="2C2C2C"/>
                </a:solidFill>
                <a:latin typeface="Calibri"/>
              </a:defRPr>
            </a:pPr>
            <a:r>
              <a:t>0.617</a:t>
            </a:r>
          </a:p>
        </p:txBody>
      </p:sp>
      <p:sp>
        <p:nvSpPr>
          <p:cNvPr id="44" name="TextBox 43"/>
          <p:cNvSpPr txBox="1"/>
          <p:nvPr/>
        </p:nvSpPr>
        <p:spPr>
          <a:xfrm>
            <a:off x="9601200" y="6263640"/>
            <a:ext cx="1188720" cy="310896"/>
          </a:xfrm>
          <a:prstGeom prst="rect">
            <a:avLst/>
          </a:prstGeom>
          <a:noFill/>
        </p:spPr>
        <p:txBody>
          <a:bodyPr wrap="square">
            <a:spAutoFit/>
          </a:bodyPr>
          <a:lstStyle/>
          <a:p>
            <a:pPr algn="ctr">
              <a:defRPr sz="1200" b="0">
                <a:solidFill>
                  <a:srgbClr val="2C2C2C"/>
                </a:solidFill>
                <a:latin typeface="Calibri"/>
              </a:defRPr>
            </a:pPr>
            <a:r>
              <a:t>47</a:t>
            </a:r>
          </a:p>
        </p:txBody>
      </p:sp>
      <p:sp>
        <p:nvSpPr>
          <p:cNvPr id="45" name="TextBox 44"/>
          <p:cNvSpPr txBox="1"/>
          <p:nvPr/>
        </p:nvSpPr>
        <p:spPr>
          <a:xfrm>
            <a:off x="640080" y="6583679"/>
            <a:ext cx="3200400" cy="310896"/>
          </a:xfrm>
          <a:prstGeom prst="rect">
            <a:avLst/>
          </a:prstGeom>
          <a:noFill/>
        </p:spPr>
        <p:txBody>
          <a:bodyPr wrap="square">
            <a:spAutoFit/>
          </a:bodyPr>
          <a:lstStyle/>
          <a:p>
            <a:pPr algn="l">
              <a:defRPr sz="1200" b="0">
                <a:solidFill>
                  <a:srgbClr val="2C2C2C"/>
                </a:solidFill>
                <a:latin typeface="Calibri"/>
              </a:defRPr>
            </a:pPr>
            <a:r>
              <a:t>Buy-and-Hold</a:t>
            </a:r>
          </a:p>
        </p:txBody>
      </p:sp>
      <p:sp>
        <p:nvSpPr>
          <p:cNvPr id="46" name="TextBox 45"/>
          <p:cNvSpPr txBox="1"/>
          <p:nvPr/>
        </p:nvSpPr>
        <p:spPr>
          <a:xfrm>
            <a:off x="4114800" y="6583679"/>
            <a:ext cx="1188720" cy="310896"/>
          </a:xfrm>
          <a:prstGeom prst="rect">
            <a:avLst/>
          </a:prstGeom>
          <a:noFill/>
        </p:spPr>
        <p:txBody>
          <a:bodyPr wrap="square">
            <a:spAutoFit/>
          </a:bodyPr>
          <a:lstStyle/>
          <a:p>
            <a:pPr algn="ctr">
              <a:defRPr sz="1200" b="0">
                <a:solidFill>
                  <a:srgbClr val="2C2C2C"/>
                </a:solidFill>
                <a:latin typeface="Calibri"/>
              </a:defRPr>
            </a:pPr>
            <a:r>
              <a:t>6.09</a:t>
            </a:r>
          </a:p>
        </p:txBody>
      </p:sp>
      <p:sp>
        <p:nvSpPr>
          <p:cNvPr id="47" name="TextBox 46"/>
          <p:cNvSpPr txBox="1"/>
          <p:nvPr/>
        </p:nvSpPr>
        <p:spPr>
          <a:xfrm>
            <a:off x="5486400" y="6583679"/>
            <a:ext cx="1188720" cy="310896"/>
          </a:xfrm>
          <a:prstGeom prst="rect">
            <a:avLst/>
          </a:prstGeom>
          <a:noFill/>
        </p:spPr>
        <p:txBody>
          <a:bodyPr wrap="square">
            <a:spAutoFit/>
          </a:bodyPr>
          <a:lstStyle/>
          <a:p>
            <a:pPr algn="ctr">
              <a:defRPr sz="1200" b="0">
                <a:solidFill>
                  <a:srgbClr val="2C2C2C"/>
                </a:solidFill>
                <a:latin typeface="Calibri"/>
              </a:defRPr>
            </a:pPr>
            <a:r>
              <a:t>—</a:t>
            </a:r>
          </a:p>
        </p:txBody>
      </p:sp>
      <p:sp>
        <p:nvSpPr>
          <p:cNvPr id="48" name="TextBox 47"/>
          <p:cNvSpPr txBox="1"/>
          <p:nvPr/>
        </p:nvSpPr>
        <p:spPr>
          <a:xfrm>
            <a:off x="6858000" y="6583679"/>
            <a:ext cx="1188720" cy="310896"/>
          </a:xfrm>
          <a:prstGeom prst="rect">
            <a:avLst/>
          </a:prstGeom>
          <a:noFill/>
        </p:spPr>
        <p:txBody>
          <a:bodyPr wrap="square">
            <a:spAutoFit/>
          </a:bodyPr>
          <a:lstStyle/>
          <a:p>
            <a:pPr algn="ctr">
              <a:defRPr sz="1200" b="0">
                <a:solidFill>
                  <a:srgbClr val="2C2C2C"/>
                </a:solidFill>
                <a:latin typeface="Calibri"/>
              </a:defRPr>
            </a:pPr>
            <a:r>
              <a:t>8.2%</a:t>
            </a:r>
          </a:p>
        </p:txBody>
      </p:sp>
      <p:sp>
        <p:nvSpPr>
          <p:cNvPr id="49" name="TextBox 48"/>
          <p:cNvSpPr txBox="1"/>
          <p:nvPr/>
        </p:nvSpPr>
        <p:spPr>
          <a:xfrm>
            <a:off x="8229600" y="6583679"/>
            <a:ext cx="1188720" cy="310896"/>
          </a:xfrm>
          <a:prstGeom prst="rect">
            <a:avLst/>
          </a:prstGeom>
          <a:noFill/>
        </p:spPr>
        <p:txBody>
          <a:bodyPr wrap="square">
            <a:spAutoFit/>
          </a:bodyPr>
          <a:lstStyle/>
          <a:p>
            <a:pPr algn="ctr">
              <a:defRPr sz="1200" b="0">
                <a:solidFill>
                  <a:srgbClr val="2C2C2C"/>
                </a:solidFill>
                <a:latin typeface="Calibri"/>
              </a:defRPr>
            </a:pPr>
            <a:r>
              <a:t>—</a:t>
            </a:r>
          </a:p>
        </p:txBody>
      </p:sp>
      <p:sp>
        <p:nvSpPr>
          <p:cNvPr id="50" name="TextBox 49"/>
          <p:cNvSpPr txBox="1"/>
          <p:nvPr/>
        </p:nvSpPr>
        <p:spPr>
          <a:xfrm>
            <a:off x="9601200" y="6583679"/>
            <a:ext cx="1188720" cy="310896"/>
          </a:xfrm>
          <a:prstGeom prst="rect">
            <a:avLst/>
          </a:prstGeom>
          <a:noFill/>
        </p:spPr>
        <p:txBody>
          <a:bodyPr wrap="square">
            <a:spAutoFit/>
          </a:bodyPr>
          <a:lstStyle/>
          <a:p>
            <a:pPr algn="ctr">
              <a:defRPr sz="1200" b="0">
                <a:solidFill>
                  <a:srgbClr val="2C2C2C"/>
                </a:solidFill>
                <a:latin typeface="Calibri"/>
              </a:defRPr>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Results at a Glance</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3474720" cy="32004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3108960" cy="365760"/>
          </a:xfrm>
          <a:prstGeom prst="rect">
            <a:avLst/>
          </a:prstGeom>
          <a:noFill/>
        </p:spPr>
        <p:txBody>
          <a:bodyPr wrap="square">
            <a:spAutoFit/>
          </a:bodyPr>
          <a:lstStyle/>
          <a:p>
            <a:pPr algn="l">
              <a:defRPr sz="1600" b="1">
                <a:solidFill>
                  <a:srgbClr val="1B3A5C"/>
                </a:solidFill>
                <a:latin typeface="Calibri"/>
              </a:defRPr>
            </a:pPr>
            <a:r>
              <a:t>Regression (02D Stacked)</a:t>
            </a:r>
          </a:p>
        </p:txBody>
      </p:sp>
      <p:sp>
        <p:nvSpPr>
          <p:cNvPr id="7" name="TextBox 6"/>
          <p:cNvSpPr txBox="1"/>
          <p:nvPr/>
        </p:nvSpPr>
        <p:spPr>
          <a:xfrm>
            <a:off x="640080" y="1737360"/>
            <a:ext cx="3108960" cy="2286000"/>
          </a:xfrm>
          <a:prstGeom prst="rect">
            <a:avLst/>
          </a:prstGeom>
          <a:noFill/>
        </p:spPr>
        <p:txBody>
          <a:bodyPr wrap="square">
            <a:spAutoFit/>
          </a:bodyPr>
          <a:lstStyle/>
          <a:p>
            <a:pPr>
              <a:spcBef>
                <a:spcPts val="400"/>
              </a:spcBef>
              <a:spcAft>
                <a:spcPts val="200"/>
              </a:spcAft>
            </a:pPr>
            <a:r>
              <a:rPr sz="1400">
                <a:solidFill>
                  <a:srgbClr val="2C2C2C"/>
                </a:solidFill>
                <a:latin typeface="Calibri"/>
              </a:rPr>
              <a:t>• MAE = 0.918</a:t>
            </a:r>
          </a:p>
          <a:p>
            <a:pPr>
              <a:spcBef>
                <a:spcPts val="400"/>
              </a:spcBef>
              <a:spcAft>
                <a:spcPts val="200"/>
              </a:spcAft>
            </a:pPr>
            <a:r>
              <a:rPr sz="1400">
                <a:solidFill>
                  <a:srgbClr val="2C2C2C"/>
                </a:solidFill>
                <a:latin typeface="Calibri"/>
              </a:rPr>
              <a:t>• R² = 0.999688</a:t>
            </a:r>
          </a:p>
          <a:p>
            <a:pPr>
              <a:spcBef>
                <a:spcPts val="400"/>
              </a:spcBef>
              <a:spcAft>
                <a:spcPts val="200"/>
              </a:spcAft>
            </a:pPr>
            <a:r>
              <a:rPr sz="1400">
                <a:solidFill>
                  <a:srgbClr val="2C2C2C"/>
                </a:solidFill>
                <a:latin typeface="Calibri"/>
              </a:rPr>
              <a:t>• Dir. Accuracy = 0.515</a:t>
            </a:r>
          </a:p>
          <a:p>
            <a:pPr>
              <a:spcBef>
                <a:spcPts val="400"/>
              </a:spcBef>
              <a:spcAft>
                <a:spcPts val="200"/>
              </a:spcAft>
            </a:pPr>
            <a:r>
              <a:rPr sz="1400">
                <a:solidFill>
                  <a:srgbClr val="2C2C2C"/>
                </a:solidFill>
                <a:latin typeface="Calibri"/>
              </a:rPr>
              <a:t>• MSFT best: MAE = 0.594</a:t>
            </a:r>
          </a:p>
          <a:p>
            <a:pPr>
              <a:spcBef>
                <a:spcPts val="400"/>
              </a:spcBef>
              <a:spcAft>
                <a:spcPts val="200"/>
              </a:spcAft>
            </a:pPr>
            <a:r>
              <a:rPr sz="1400">
                <a:solidFill>
                  <a:srgbClr val="2C2C2C"/>
                </a:solidFill>
                <a:latin typeface="Calibri"/>
              </a:rPr>
              <a:t>• AMZN/GOOG: 46-47% improvement</a:t>
            </a:r>
          </a:p>
        </p:txBody>
      </p:sp>
      <p:sp>
        <p:nvSpPr>
          <p:cNvPr id="8" name="Rectangle 7"/>
          <p:cNvSpPr/>
          <p:nvPr/>
        </p:nvSpPr>
        <p:spPr>
          <a:xfrm>
            <a:off x="4297680" y="1188720"/>
            <a:ext cx="3474720" cy="3200400"/>
          </a:xfrm>
          <a:prstGeom prst="rect">
            <a:avLst/>
          </a:prstGeom>
          <a:solidFill>
            <a:srgbClr val="FEF5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280160"/>
            <a:ext cx="3108960" cy="365760"/>
          </a:xfrm>
          <a:prstGeom prst="rect">
            <a:avLst/>
          </a:prstGeom>
          <a:noFill/>
        </p:spPr>
        <p:txBody>
          <a:bodyPr wrap="square">
            <a:spAutoFit/>
          </a:bodyPr>
          <a:lstStyle/>
          <a:p>
            <a:pPr algn="l">
              <a:defRPr sz="1600" b="1">
                <a:solidFill>
                  <a:srgbClr val="D4A01E"/>
                </a:solidFill>
                <a:latin typeface="Calibri"/>
              </a:defRPr>
            </a:pPr>
            <a:r>
              <a:t>Clustering (K-Means)</a:t>
            </a:r>
          </a:p>
        </p:txBody>
      </p:sp>
      <p:sp>
        <p:nvSpPr>
          <p:cNvPr id="10" name="TextBox 9"/>
          <p:cNvSpPr txBox="1"/>
          <p:nvPr/>
        </p:nvSpPr>
        <p:spPr>
          <a:xfrm>
            <a:off x="4480560" y="1737360"/>
            <a:ext cx="3108960" cy="2286000"/>
          </a:xfrm>
          <a:prstGeom prst="rect">
            <a:avLst/>
          </a:prstGeom>
          <a:noFill/>
        </p:spPr>
        <p:txBody>
          <a:bodyPr wrap="square">
            <a:spAutoFit/>
          </a:bodyPr>
          <a:lstStyle/>
          <a:p>
            <a:pPr>
              <a:spcBef>
                <a:spcPts val="400"/>
              </a:spcBef>
              <a:spcAft>
                <a:spcPts val="200"/>
              </a:spcAft>
            </a:pPr>
            <a:r>
              <a:rPr sz="1400">
                <a:solidFill>
                  <a:srgbClr val="2C2C2C"/>
                </a:solidFill>
                <a:latin typeface="Calibri"/>
              </a:rPr>
              <a:t>• K = 6 (Elbow + Silhouette)</a:t>
            </a:r>
          </a:p>
          <a:p>
            <a:pPr>
              <a:spcBef>
                <a:spcPts val="400"/>
              </a:spcBef>
              <a:spcAft>
                <a:spcPts val="200"/>
              </a:spcAft>
            </a:pPr>
            <a:r>
              <a:rPr sz="1400">
                <a:solidFill>
                  <a:srgbClr val="2C2C2C"/>
                </a:solidFill>
                <a:latin typeface="Calibri"/>
              </a:rPr>
              <a:t>• Composite Score = 0.577 (Rank 1)</a:t>
            </a:r>
          </a:p>
          <a:p>
            <a:pPr>
              <a:spcBef>
                <a:spcPts val="400"/>
              </a:spcBef>
              <a:spcAft>
                <a:spcPts val="200"/>
              </a:spcAft>
            </a:pPr>
            <a:r>
              <a:rPr sz="1400">
                <a:solidFill>
                  <a:srgbClr val="2C2C2C"/>
                </a:solidFill>
                <a:latin typeface="Calibri"/>
              </a:rPr>
              <a:t>• Silhouette = 0.250</a:t>
            </a:r>
          </a:p>
          <a:p>
            <a:pPr>
              <a:spcBef>
                <a:spcPts val="400"/>
              </a:spcBef>
              <a:spcAft>
                <a:spcPts val="200"/>
              </a:spcAft>
            </a:pPr>
            <a:r>
              <a:rPr sz="1400">
                <a:solidFill>
                  <a:srgbClr val="2C2C2C"/>
                </a:solidFill>
                <a:latin typeface="Calibri"/>
              </a:rPr>
              <a:t>• Zero noise ratio</a:t>
            </a:r>
          </a:p>
          <a:p>
            <a:pPr>
              <a:spcBef>
                <a:spcPts val="400"/>
              </a:spcBef>
              <a:spcAft>
                <a:spcPts val="200"/>
              </a:spcAft>
            </a:pPr>
            <a:r>
              <a:rPr sz="1400">
                <a:solidFill>
                  <a:srgbClr val="2C2C2C"/>
                </a:solidFill>
                <a:latin typeface="Calibri"/>
              </a:rPr>
              <a:t>• Financially coherent peer groups</a:t>
            </a:r>
          </a:p>
        </p:txBody>
      </p:sp>
      <p:sp>
        <p:nvSpPr>
          <p:cNvPr id="11" name="Rectangle 10"/>
          <p:cNvSpPr/>
          <p:nvPr/>
        </p:nvSpPr>
        <p:spPr>
          <a:xfrm>
            <a:off x="8138160" y="1188720"/>
            <a:ext cx="3474720" cy="32004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280160"/>
            <a:ext cx="3108960" cy="365760"/>
          </a:xfrm>
          <a:prstGeom prst="rect">
            <a:avLst/>
          </a:prstGeom>
          <a:noFill/>
        </p:spPr>
        <p:txBody>
          <a:bodyPr wrap="square">
            <a:spAutoFit/>
          </a:bodyPr>
          <a:lstStyle/>
          <a:p>
            <a:pPr algn="l">
              <a:defRPr sz="1600" b="1">
                <a:solidFill>
                  <a:srgbClr val="27AE60"/>
                </a:solidFill>
                <a:latin typeface="Calibri"/>
              </a:defRPr>
            </a:pPr>
            <a:r>
              <a:t>Trading (Meta Ridge)</a:t>
            </a:r>
          </a:p>
        </p:txBody>
      </p:sp>
      <p:sp>
        <p:nvSpPr>
          <p:cNvPr id="13" name="TextBox 12"/>
          <p:cNvSpPr txBox="1"/>
          <p:nvPr/>
        </p:nvSpPr>
        <p:spPr>
          <a:xfrm>
            <a:off x="8321040" y="1737360"/>
            <a:ext cx="3108960" cy="2286000"/>
          </a:xfrm>
          <a:prstGeom prst="rect">
            <a:avLst/>
          </a:prstGeom>
          <a:noFill/>
        </p:spPr>
        <p:txBody>
          <a:bodyPr wrap="square">
            <a:spAutoFit/>
          </a:bodyPr>
          <a:lstStyle/>
          <a:p>
            <a:pPr>
              <a:spcBef>
                <a:spcPts val="400"/>
              </a:spcBef>
              <a:spcAft>
                <a:spcPts val="200"/>
              </a:spcAft>
            </a:pPr>
            <a:r>
              <a:rPr sz="1400">
                <a:solidFill>
                  <a:srgbClr val="2C2C2C"/>
                </a:solidFill>
                <a:latin typeface="Calibri"/>
              </a:rPr>
              <a:t>• Sharpe Ratio = 8.10</a:t>
            </a:r>
          </a:p>
          <a:p>
            <a:pPr>
              <a:spcBef>
                <a:spcPts val="400"/>
              </a:spcBef>
              <a:spcAft>
                <a:spcPts val="200"/>
              </a:spcAft>
            </a:pPr>
            <a:r>
              <a:rPr sz="1400">
                <a:solidFill>
                  <a:srgbClr val="2C2C2C"/>
                </a:solidFill>
                <a:latin typeface="Calibri"/>
              </a:rPr>
              <a:t>• Max Drawdown = −0.8%</a:t>
            </a:r>
          </a:p>
          <a:p>
            <a:pPr>
              <a:spcBef>
                <a:spcPts val="400"/>
              </a:spcBef>
              <a:spcAft>
                <a:spcPts val="200"/>
              </a:spcAft>
            </a:pPr>
            <a:r>
              <a:rPr sz="1400">
                <a:solidFill>
                  <a:srgbClr val="2C2C2C"/>
                </a:solidFill>
                <a:latin typeface="Calibri"/>
              </a:rPr>
              <a:t>• Total Return = 10.5%</a:t>
            </a:r>
          </a:p>
          <a:p>
            <a:pPr>
              <a:spcBef>
                <a:spcPts val="400"/>
              </a:spcBef>
              <a:spcAft>
                <a:spcPts val="200"/>
              </a:spcAft>
            </a:pPr>
            <a:r>
              <a:rPr sz="1400">
                <a:solidFill>
                  <a:srgbClr val="2C2C2C"/>
                </a:solidFill>
                <a:latin typeface="Calibri"/>
              </a:rPr>
              <a:t>• DHR = 0.681</a:t>
            </a:r>
          </a:p>
          <a:p>
            <a:pPr>
              <a:spcBef>
                <a:spcPts val="400"/>
              </a:spcBef>
              <a:spcAft>
                <a:spcPts val="200"/>
              </a:spcAft>
            </a:pPr>
            <a:r>
              <a:rPr sz="1400">
                <a:solidFill>
                  <a:srgbClr val="2C2C2C"/>
                </a:solidFill>
                <a:latin typeface="Calibri"/>
              </a:rPr>
              <a:t>• Beats Buy-and-Hold (6.09)</a:t>
            </a:r>
          </a:p>
        </p:txBody>
      </p:sp>
      <p:sp>
        <p:nvSpPr>
          <p:cNvPr id="14" name="TextBox 13"/>
          <p:cNvSpPr txBox="1"/>
          <p:nvPr/>
        </p:nvSpPr>
        <p:spPr>
          <a:xfrm>
            <a:off x="548640" y="4846320"/>
            <a:ext cx="10972800" cy="365760"/>
          </a:xfrm>
          <a:prstGeom prst="rect">
            <a:avLst/>
          </a:prstGeom>
          <a:noFill/>
        </p:spPr>
        <p:txBody>
          <a:bodyPr wrap="square">
            <a:spAutoFit/>
          </a:bodyPr>
          <a:lstStyle/>
          <a:p>
            <a:pPr algn="l">
              <a:defRPr sz="1800" b="1">
                <a:solidFill>
                  <a:srgbClr val="1B3A5C"/>
                </a:solidFill>
                <a:latin typeface="Calibri"/>
              </a:defRPr>
            </a:pPr>
            <a:r>
              <a:t>Per-Stock Highlights</a:t>
            </a:r>
          </a:p>
        </p:txBody>
      </p:sp>
      <p:sp>
        <p:nvSpPr>
          <p:cNvPr id="15" name="TextBox 14"/>
          <p:cNvSpPr txBox="1"/>
          <p:nvPr/>
        </p:nvSpPr>
        <p:spPr>
          <a:xfrm>
            <a:off x="548640" y="5303520"/>
            <a:ext cx="10972800" cy="1371600"/>
          </a:xfrm>
          <a:prstGeom prst="rect">
            <a:avLst/>
          </a:prstGeom>
          <a:noFill/>
        </p:spPr>
        <p:txBody>
          <a:bodyPr wrap="square">
            <a:spAutoFit/>
          </a:bodyPr>
          <a:lstStyle/>
          <a:p>
            <a:pPr>
              <a:spcBef>
                <a:spcPts val="400"/>
              </a:spcBef>
              <a:spcAft>
                <a:spcPts val="200"/>
              </a:spcAft>
            </a:pPr>
            <a:r>
              <a:rPr b="1" sz="1400">
                <a:solidFill>
                  <a:srgbClr val="2C2C2C"/>
                </a:solidFill>
                <a:latin typeface="Calibri"/>
              </a:rPr>
              <a:t>AAPL: </a:t>
            </a:r>
            <a:r>
              <a:rPr sz="1400">
                <a:solidFill>
                  <a:srgbClr val="2C2C2C"/>
                </a:solidFill>
                <a:latin typeface="Calibri"/>
              </a:rPr>
              <a:t>Best under 02D stacked (MAE=1.331) — cluster peers fill news gaps</a:t>
            </a:r>
          </a:p>
          <a:p>
            <a:pPr>
              <a:spcBef>
                <a:spcPts val="400"/>
              </a:spcBef>
              <a:spcAft>
                <a:spcPts val="200"/>
              </a:spcAft>
            </a:pPr>
            <a:r>
              <a:rPr b="1" sz="1400">
                <a:solidFill>
                  <a:srgbClr val="2C2C2C"/>
                </a:solidFill>
                <a:latin typeface="Calibri"/>
              </a:rPr>
              <a:t>AMZN/GOOG: </a:t>
            </a:r>
            <a:r>
              <a:rPr sz="1400">
                <a:solidFill>
                  <a:srgbClr val="2C2C2C"/>
                </a:solidFill>
                <a:latin typeface="Calibri"/>
              </a:rPr>
              <a:t>Largest MAE drops via cluster-specific sentiment (↓46-47%)</a:t>
            </a:r>
          </a:p>
          <a:p>
            <a:pPr>
              <a:spcBef>
                <a:spcPts val="400"/>
              </a:spcBef>
              <a:spcAft>
                <a:spcPts val="200"/>
              </a:spcAft>
            </a:pPr>
            <a:r>
              <a:rPr b="1" sz="1400">
                <a:solidFill>
                  <a:srgbClr val="2C2C2C"/>
                </a:solidFill>
                <a:latin typeface="Calibri"/>
              </a:rPr>
              <a:t>MSFT: </a:t>
            </a:r>
            <a:r>
              <a:rPr sz="1400">
                <a:solidFill>
                  <a:srgbClr val="2C2C2C"/>
                </a:solidFill>
                <a:latin typeface="Calibri"/>
              </a:rPr>
              <a:t>Lowest absolute MAE (0.594) — smooth trend, consistent coverage</a:t>
            </a:r>
          </a:p>
          <a:p>
            <a:pPr>
              <a:spcBef>
                <a:spcPts val="400"/>
              </a:spcBef>
              <a:spcAft>
                <a:spcPts val="200"/>
              </a:spcAft>
            </a:pPr>
            <a:r>
              <a:rPr b="1" sz="1400">
                <a:solidFill>
                  <a:srgbClr val="2C2C2C"/>
                </a:solidFill>
                <a:latin typeface="Calibri"/>
              </a:rPr>
              <a:t>NVDA: </a:t>
            </a:r>
            <a:r>
              <a:rPr sz="1400">
                <a:solidFill>
                  <a:srgbClr val="2C2C2C"/>
                </a:solidFill>
                <a:latin typeface="Calibri"/>
              </a:rPr>
              <a:t>Highest R² (0.9886) — semiconductor peer group boosts fit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Trading Utility: Equity Curve &amp; Drawdown</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2F_01_cumulative_returns.png"/>
          <p:cNvPicPr>
            <a:picLocks noChangeAspect="1"/>
          </p:cNvPicPr>
          <p:nvPr/>
        </p:nvPicPr>
        <p:blipFill>
          <a:blip r:embed="rId2"/>
          <a:stretch>
            <a:fillRect/>
          </a:stretch>
        </p:blipFill>
        <p:spPr>
          <a:xfrm>
            <a:off x="457200" y="1188720"/>
            <a:ext cx="5486400" cy="2162612"/>
          </a:xfrm>
          <a:prstGeom prst="rect">
            <a:avLst/>
          </a:prstGeom>
        </p:spPr>
      </p:pic>
      <p:pic>
        <p:nvPicPr>
          <p:cNvPr id="6" name="Picture 5" descr="02F_02_drawdown.png"/>
          <p:cNvPicPr>
            <a:picLocks noChangeAspect="1"/>
          </p:cNvPicPr>
          <p:nvPr/>
        </p:nvPicPr>
        <p:blipFill>
          <a:blip r:embed="rId3"/>
          <a:stretch>
            <a:fillRect/>
          </a:stretch>
        </p:blipFill>
        <p:spPr>
          <a:xfrm>
            <a:off x="6217920" y="1188720"/>
            <a:ext cx="5486400" cy="1797057"/>
          </a:xfrm>
          <a:prstGeom prst="rect">
            <a:avLst/>
          </a:prstGeom>
        </p:spPr>
      </p:pic>
      <p:sp>
        <p:nvSpPr>
          <p:cNvPr id="7" name="Rectangle 6"/>
          <p:cNvSpPr/>
          <p:nvPr/>
        </p:nvSpPr>
        <p:spPr>
          <a:xfrm>
            <a:off x="457200" y="5120640"/>
            <a:ext cx="1115568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212080"/>
            <a:ext cx="10789920" cy="914400"/>
          </a:xfrm>
          <a:prstGeom prst="rect">
            <a:avLst/>
          </a:prstGeom>
          <a:noFill/>
        </p:spPr>
        <p:txBody>
          <a:bodyPr wrap="square">
            <a:spAutoFit/>
          </a:bodyPr>
          <a:lstStyle/>
          <a:p>
            <a:pPr algn="ctr">
              <a:defRPr sz="1800" b="1">
                <a:solidFill>
                  <a:srgbClr val="FFFFFF"/>
                </a:solidFill>
                <a:latin typeface="Calibri"/>
              </a:defRPr>
            </a:pPr>
            <a:r>
              <a:t>Learned Meta Ridge: Sharpe 8.10  |  Return +10.5%  |  Max DD −0.8%  |  DHR 0.681</a:t>
            </a:r>
            <a:br/>
            <a:r>
              <a:t>Buy-and-Hold: Sharpe 6.09  |  Return +8.2%  →  Meta-Signal beats passive benchmark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058400" cy="640080"/>
          </a:xfrm>
          <a:prstGeom prst="rect">
            <a:avLst/>
          </a:prstGeom>
          <a:noFill/>
        </p:spPr>
        <p:txBody>
          <a:bodyPr wrap="square">
            <a:spAutoFit/>
          </a:bodyPr>
          <a:lstStyle/>
          <a:p>
            <a:pPr algn="l">
              <a:defRPr sz="2600" b="1">
                <a:solidFill>
                  <a:srgbClr val="FFFFFF"/>
                </a:solidFill>
                <a:latin typeface="Calibri"/>
              </a:defRPr>
            </a:pPr>
            <a:r>
              <a:t>Limitations &amp; Future Work</a:t>
            </a:r>
          </a:p>
        </p:txBody>
      </p:sp>
      <p:sp>
        <p:nvSpPr>
          <p:cNvPr id="4" name="Rectangle 3"/>
          <p:cNvSpPr/>
          <p:nvPr/>
        </p:nvSpPr>
        <p:spPr>
          <a:xfrm>
            <a:off x="0" y="914400"/>
            <a:ext cx="12191695"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029200" cy="365760"/>
          </a:xfrm>
          <a:prstGeom prst="rect">
            <a:avLst/>
          </a:prstGeom>
          <a:noFill/>
        </p:spPr>
        <p:txBody>
          <a:bodyPr wrap="square">
            <a:spAutoFit/>
          </a:bodyPr>
          <a:lstStyle/>
          <a:p>
            <a:pPr algn="l">
              <a:defRPr sz="2000" b="1">
                <a:solidFill>
                  <a:srgbClr val="C0392B"/>
                </a:solidFill>
                <a:latin typeface="Calibri"/>
              </a:defRPr>
            </a:pPr>
            <a:r>
              <a:t>Limitations</a:t>
            </a:r>
          </a:p>
        </p:txBody>
      </p:sp>
      <p:sp>
        <p:nvSpPr>
          <p:cNvPr id="6" name="TextBox 5"/>
          <p:cNvSpPr txBox="1"/>
          <p:nvPr/>
        </p:nvSpPr>
        <p:spPr>
          <a:xfrm>
            <a:off x="548640" y="1645920"/>
            <a:ext cx="5029200" cy="3200400"/>
          </a:xfrm>
          <a:prstGeom prst="rect">
            <a:avLst/>
          </a:prstGeom>
          <a:noFill/>
        </p:spPr>
        <p:txBody>
          <a:bodyPr wrap="square">
            <a:spAutoFit/>
          </a:bodyPr>
          <a:lstStyle/>
          <a:p>
            <a:pPr>
              <a:spcBef>
                <a:spcPts val="400"/>
              </a:spcBef>
              <a:spcAft>
                <a:spcPts val="200"/>
              </a:spcAft>
            </a:pPr>
            <a:r>
              <a:rPr sz="1600">
                <a:solidFill>
                  <a:srgbClr val="2C2C2C"/>
                </a:solidFill>
                <a:latin typeface="Calibri"/>
              </a:rPr>
              <a:t>• No transaction costs/slippage in backtest → Sharpe overstated in live trading</a:t>
            </a:r>
          </a:p>
          <a:p>
            <a:pPr>
              <a:spcBef>
                <a:spcPts val="400"/>
              </a:spcBef>
              <a:spcAft>
                <a:spcPts val="200"/>
              </a:spcAft>
            </a:pPr>
            <a:r>
              <a:rPr sz="1600">
                <a:solidFill>
                  <a:srgbClr val="2C2C2C"/>
                </a:solidFill>
                <a:latin typeface="Calibri"/>
              </a:rPr>
              <a:t>• Static cluster topology — correlations evolve over time</a:t>
            </a:r>
          </a:p>
          <a:p>
            <a:pPr>
              <a:spcBef>
                <a:spcPts val="400"/>
              </a:spcBef>
              <a:spcAft>
                <a:spcPts val="200"/>
              </a:spcAft>
            </a:pPr>
            <a:r>
              <a:rPr sz="1600">
                <a:solidFill>
                  <a:srgbClr val="2C2C2C"/>
                </a:solidFill>
                <a:latin typeface="Calibri"/>
              </a:rPr>
              <a:t>• Headline API coverage uneven vs institutional feeds</a:t>
            </a:r>
          </a:p>
          <a:p>
            <a:pPr>
              <a:spcBef>
                <a:spcPts val="400"/>
              </a:spcBef>
              <a:spcAft>
                <a:spcPts val="200"/>
              </a:spcAft>
            </a:pPr>
            <a:r>
              <a:rPr sz="1600">
                <a:solidFill>
                  <a:srgbClr val="2C2C2C"/>
                </a:solidFill>
                <a:latin typeface="Calibri"/>
              </a:rPr>
              <a:t>• Test period = broadly bullish — bear regime performance untested</a:t>
            </a:r>
          </a:p>
        </p:txBody>
      </p:sp>
      <p:sp>
        <p:nvSpPr>
          <p:cNvPr id="7" name="TextBox 6"/>
          <p:cNvSpPr txBox="1"/>
          <p:nvPr/>
        </p:nvSpPr>
        <p:spPr>
          <a:xfrm>
            <a:off x="6400800" y="1188720"/>
            <a:ext cx="5303520" cy="365760"/>
          </a:xfrm>
          <a:prstGeom prst="rect">
            <a:avLst/>
          </a:prstGeom>
          <a:noFill/>
        </p:spPr>
        <p:txBody>
          <a:bodyPr wrap="square">
            <a:spAutoFit/>
          </a:bodyPr>
          <a:lstStyle/>
          <a:p>
            <a:pPr algn="l">
              <a:defRPr sz="2000" b="1">
                <a:solidFill>
                  <a:srgbClr val="27AE60"/>
                </a:solidFill>
                <a:latin typeface="Calibri"/>
              </a:defRPr>
            </a:pPr>
            <a:r>
              <a:t>Future Work</a:t>
            </a:r>
          </a:p>
        </p:txBody>
      </p:sp>
      <p:sp>
        <p:nvSpPr>
          <p:cNvPr id="8" name="TextBox 7"/>
          <p:cNvSpPr txBox="1"/>
          <p:nvPr/>
        </p:nvSpPr>
        <p:spPr>
          <a:xfrm>
            <a:off x="6400800" y="1645920"/>
            <a:ext cx="5303520" cy="3200400"/>
          </a:xfrm>
          <a:prstGeom prst="rect">
            <a:avLst/>
          </a:prstGeom>
          <a:noFill/>
        </p:spPr>
        <p:txBody>
          <a:bodyPr wrap="square">
            <a:spAutoFit/>
          </a:bodyPr>
          <a:lstStyle/>
          <a:p>
            <a:pPr>
              <a:spcBef>
                <a:spcPts val="400"/>
              </a:spcBef>
              <a:spcAft>
                <a:spcPts val="200"/>
              </a:spcAft>
            </a:pPr>
            <a:r>
              <a:rPr sz="1600">
                <a:solidFill>
                  <a:srgbClr val="2C2C2C"/>
                </a:solidFill>
                <a:latin typeface="Calibri"/>
              </a:rPr>
              <a:t>• Dynamic/online clustering — rolling-window K-Means updates</a:t>
            </a:r>
          </a:p>
          <a:p>
            <a:pPr>
              <a:spcBef>
                <a:spcPts val="400"/>
              </a:spcBef>
              <a:spcAft>
                <a:spcPts val="200"/>
              </a:spcAft>
            </a:pPr>
            <a:r>
              <a:rPr sz="1600">
                <a:solidFill>
                  <a:srgbClr val="2C2C2C"/>
                </a:solidFill>
                <a:latin typeface="Calibri"/>
              </a:rPr>
              <a:t>• Regime-adaptive decay — VIX-conditioned λ function</a:t>
            </a:r>
          </a:p>
          <a:p>
            <a:pPr>
              <a:spcBef>
                <a:spcPts val="400"/>
              </a:spcBef>
              <a:spcAft>
                <a:spcPts val="200"/>
              </a:spcAft>
            </a:pPr>
            <a:r>
              <a:rPr sz="1600">
                <a:solidFill>
                  <a:srgbClr val="2C2C2C"/>
                </a:solidFill>
                <a:latin typeface="Calibri"/>
              </a:rPr>
              <a:t>• Uncertainty-aware predictions — conformal intervals for position sizing</a:t>
            </a:r>
          </a:p>
          <a:p>
            <a:pPr>
              <a:spcBef>
                <a:spcPts val="400"/>
              </a:spcBef>
              <a:spcAft>
                <a:spcPts val="200"/>
              </a:spcAft>
            </a:pPr>
            <a:r>
              <a:rPr sz="1600">
                <a:solidFill>
                  <a:srgbClr val="2C2C2C"/>
                </a:solidFill>
                <a:latin typeface="Calibri"/>
              </a:rPr>
              <a:t>• Latency-aware sentiment — intraday news timestamp modelling</a:t>
            </a:r>
          </a:p>
          <a:p>
            <a:pPr>
              <a:spcBef>
                <a:spcPts val="400"/>
              </a:spcBef>
              <a:spcAft>
                <a:spcPts val="200"/>
              </a:spcAft>
            </a:pPr>
            <a:r>
              <a:rPr sz="1600">
                <a:solidFill>
                  <a:srgbClr val="2C2C2C"/>
                </a:solidFill>
                <a:latin typeface="Calibri"/>
              </a:rPr>
              <a:t>• Alternative data — earnings transcripts, satellite, options IV</a:t>
            </a:r>
          </a:p>
        </p:txBody>
      </p:sp>
      <p:sp>
        <p:nvSpPr>
          <p:cNvPr id="9" name="Rectangle 8"/>
          <p:cNvSpPr/>
          <p:nvPr/>
        </p:nvSpPr>
        <p:spPr>
          <a:xfrm>
            <a:off x="457200" y="5120640"/>
            <a:ext cx="11155680" cy="914400"/>
          </a:xfrm>
          <a:prstGeom prst="rect">
            <a:avLst/>
          </a:prstGeom>
          <a:solidFill>
            <a:srgbClr val="FEF5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212080"/>
            <a:ext cx="10789920" cy="731520"/>
          </a:xfrm>
          <a:prstGeom prst="rect">
            <a:avLst/>
          </a:prstGeom>
          <a:noFill/>
        </p:spPr>
        <p:txBody>
          <a:bodyPr wrap="square">
            <a:spAutoFit/>
          </a:bodyPr>
          <a:lstStyle/>
          <a:p>
            <a:pPr algn="l">
              <a:defRPr sz="1400" b="0">
                <a:solidFill>
                  <a:srgbClr val="2C2C2C"/>
                </a:solidFill>
                <a:latin typeface="Calibri"/>
              </a:defRPr>
            </a:pPr>
            <a:r>
              <a:t>Hong Kong Context: This framework is directly applicable to HKEX stocks — cross-listing dynamics (A/H shares), Hang Seng Index constituents, and regional sentiment from SCMP/Caixin news feeds could strengthen the cluster routing layer.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731520"/>
            <a:ext cx="10515600" cy="731520"/>
          </a:xfrm>
          <a:prstGeom prst="rect">
            <a:avLst/>
          </a:prstGeom>
          <a:noFill/>
        </p:spPr>
        <p:txBody>
          <a:bodyPr wrap="square">
            <a:spAutoFit/>
          </a:bodyPr>
          <a:lstStyle/>
          <a:p>
            <a:pPr algn="l">
              <a:defRPr sz="3600" b="1">
                <a:solidFill>
                  <a:srgbClr val="FFFFFF"/>
                </a:solidFill>
                <a:latin typeface="Calibri"/>
              </a:defRPr>
            </a:pPr>
            <a:r>
              <a:t>Conclusion</a:t>
            </a:r>
          </a:p>
        </p:txBody>
      </p:sp>
      <p:sp>
        <p:nvSpPr>
          <p:cNvPr id="3" name="Rectangle 2"/>
          <p:cNvSpPr/>
          <p:nvPr/>
        </p:nvSpPr>
        <p:spPr>
          <a:xfrm>
            <a:off x="731520" y="1554480"/>
            <a:ext cx="2743200"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4114800"/>
          </a:xfrm>
          <a:prstGeom prst="rect">
            <a:avLst/>
          </a:prstGeom>
          <a:noFill/>
        </p:spPr>
        <p:txBody>
          <a:bodyPr wrap="square">
            <a:spAutoFit/>
          </a:bodyPr>
          <a:lstStyle/>
          <a:p>
            <a:pPr>
              <a:spcBef>
                <a:spcPts val="400"/>
              </a:spcBef>
              <a:spcAft>
                <a:spcPts val="200"/>
              </a:spcAft>
            </a:pPr>
            <a:r>
              <a:rPr sz="1800">
                <a:solidFill>
                  <a:srgbClr val="FFFFFF"/>
                </a:solidFill>
                <a:latin typeface="Calibri"/>
              </a:rPr>
              <a:t>• Core thesis validated: Clustering as signal router measurably improves both accuracy and trading utility</a:t>
            </a:r>
          </a:p>
          <a:p>
            <a:pPr>
              <a:spcBef>
                <a:spcPts val="400"/>
              </a:spcBef>
              <a:spcAft>
                <a:spcPts val="200"/>
              </a:spcAft>
            </a:pPr>
            <a:r>
              <a:rPr sz="1800">
                <a:solidFill>
                  <a:srgbClr val="FFFFFF"/>
                </a:solidFill>
                <a:latin typeface="Calibri"/>
              </a:rPr>
              <a:t>• Innovation 1: Cluster-routed sentiment fills news-sparse days → 46-47% MAE reduction for AMZN/GOOG</a:t>
            </a:r>
          </a:p>
          <a:p>
            <a:pPr>
              <a:spcBef>
                <a:spcPts val="400"/>
              </a:spcBef>
              <a:spcAft>
                <a:spcPts val="200"/>
              </a:spcAft>
            </a:pPr>
            <a:r>
              <a:rPr sz="1800">
                <a:solidFill>
                  <a:srgbClr val="FFFFFF"/>
                </a:solidFill>
                <a:latin typeface="Calibri"/>
              </a:rPr>
              <a:t>• Innovation 2: Multi-horizon meta-signal → Sharpe 8.10 (vs 6.09 buy-and-hold), MaxDD −0.8%</a:t>
            </a:r>
          </a:p>
          <a:p>
            <a:pPr>
              <a:spcBef>
                <a:spcPts val="400"/>
              </a:spcBef>
              <a:spcAft>
                <a:spcPts val="200"/>
              </a:spcAft>
            </a:pPr>
            <a:r>
              <a:rPr sz="1800">
                <a:solidFill>
                  <a:srgbClr val="FFFFFF"/>
                </a:solidFill>
                <a:latin typeface="Calibri"/>
              </a:rPr>
              <a:t>• XGBoost &gt; LSTM/GRU under financial data constraints (limited per-ticker samples, temporal splitting)</a:t>
            </a:r>
          </a:p>
          <a:p>
            <a:pPr>
              <a:spcBef>
                <a:spcPts val="400"/>
              </a:spcBef>
              <a:spcAft>
                <a:spcPts val="200"/>
              </a:spcAft>
            </a:pPr>
            <a:r>
              <a:rPr sz="1800">
                <a:solidFill>
                  <a:srgbClr val="FFFFFF"/>
                </a:solidFill>
                <a:latin typeface="Calibri"/>
              </a:rPr>
              <a:t>• Dual evaluation protocol: Point-wise (MAE/R²) + Deployment utility (Sharpe/DHR/Drawdown)</a:t>
            </a:r>
          </a:p>
        </p:txBody>
      </p:sp>
      <p:sp>
        <p:nvSpPr>
          <p:cNvPr id="5" name="Rectangle 4"/>
          <p:cNvSpPr/>
          <p:nvPr/>
        </p:nvSpPr>
        <p:spPr>
          <a:xfrm>
            <a:off x="731520" y="5029200"/>
            <a:ext cx="10515600" cy="914400"/>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166360"/>
            <a:ext cx="10149840" cy="640080"/>
          </a:xfrm>
          <a:prstGeom prst="rect">
            <a:avLst/>
          </a:prstGeom>
          <a:noFill/>
        </p:spPr>
        <p:txBody>
          <a:bodyPr wrap="square">
            <a:spAutoFit/>
          </a:bodyPr>
          <a:lstStyle/>
          <a:p>
            <a:pPr algn="ctr">
              <a:defRPr sz="1600" b="1">
                <a:solidFill>
                  <a:srgbClr val="1B3A5C"/>
                </a:solidFill>
                <a:latin typeface="Calibri"/>
              </a:defRPr>
            </a:pPr>
            <a:r>
              <a:t>"Clustering is not only an unsupervised analysis module — it functions as a structural signal router</a:t>
            </a:r>
            <a:br/>
            <a:r>
              <a:t>that converts sparse individual-news streams into cluster-informed predictive features."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TextBox 1"/>
          <p:cNvSpPr txBox="1"/>
          <p:nvPr/>
        </p:nvSpPr>
        <p:spPr>
          <a:xfrm>
            <a:off x="731520" y="1828800"/>
            <a:ext cx="10515600" cy="1097280"/>
          </a:xfrm>
          <a:prstGeom prst="rect">
            <a:avLst/>
          </a:prstGeom>
          <a:noFill/>
        </p:spPr>
        <p:txBody>
          <a:bodyPr wrap="square">
            <a:spAutoFit/>
          </a:bodyPr>
          <a:lstStyle/>
          <a:p>
            <a:pPr algn="ctr">
              <a:defRPr sz="4200" b="1">
                <a:solidFill>
                  <a:srgbClr val="FFFFFF"/>
                </a:solidFill>
                <a:latin typeface="Calibri"/>
              </a:defRPr>
            </a:pPr>
            <a:r>
              <a:t>Thank You — Questions?</a:t>
            </a:r>
          </a:p>
        </p:txBody>
      </p:sp>
      <p:sp>
        <p:nvSpPr>
          <p:cNvPr id="3" name="Rectangle 2"/>
          <p:cNvSpPr/>
          <p:nvPr/>
        </p:nvSpPr>
        <p:spPr>
          <a:xfrm>
            <a:off x="4754880" y="3200400"/>
            <a:ext cx="2743200" cy="36576"/>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0"/>
            <a:ext cx="10515600" cy="548640"/>
          </a:xfrm>
          <a:prstGeom prst="rect">
            <a:avLst/>
          </a:prstGeom>
          <a:noFill/>
        </p:spPr>
        <p:txBody>
          <a:bodyPr wrap="square">
            <a:spAutoFit/>
          </a:bodyPr>
          <a:lstStyle/>
          <a:p>
            <a:pPr algn="ctr">
              <a:defRPr sz="1800" b="0">
                <a:solidFill>
                  <a:srgbClr val="AAAAAA"/>
                </a:solidFill>
                <a:latin typeface="Calibri"/>
              </a:defRPr>
            </a:pPr>
            <a:r>
              <a:t>CHIU Yee Lok  |  25012923G  |  COMP5564 ML in Finance  |  April 2026</a:t>
            </a:r>
          </a:p>
        </p:txBody>
      </p:sp>
      <p:sp>
        <p:nvSpPr>
          <p:cNvPr id="5" name="TextBox 4"/>
          <p:cNvSpPr txBox="1"/>
          <p:nvPr/>
        </p:nvSpPr>
        <p:spPr>
          <a:xfrm>
            <a:off x="731520" y="4754880"/>
            <a:ext cx="10515600" cy="365760"/>
          </a:xfrm>
          <a:prstGeom prst="rect">
            <a:avLst/>
          </a:prstGeom>
          <a:noFill/>
        </p:spPr>
        <p:txBody>
          <a:bodyPr wrap="square">
            <a:spAutoFit/>
          </a:bodyPr>
          <a:lstStyle/>
          <a:p>
            <a:pPr algn="l">
              <a:defRPr sz="1600" b="1">
                <a:solidFill>
                  <a:srgbClr val="D4A01E"/>
                </a:solidFill>
                <a:latin typeface="Calibri"/>
              </a:defRPr>
            </a:pPr>
            <a:r>
              <a:t>Quick Reference (Backup)</a:t>
            </a:r>
          </a:p>
        </p:txBody>
      </p:sp>
      <p:sp>
        <p:nvSpPr>
          <p:cNvPr id="6" name="TextBox 5"/>
          <p:cNvSpPr txBox="1"/>
          <p:nvPr/>
        </p:nvSpPr>
        <p:spPr>
          <a:xfrm>
            <a:off x="731520" y="5120640"/>
            <a:ext cx="10515600" cy="1371600"/>
          </a:xfrm>
          <a:prstGeom prst="rect">
            <a:avLst/>
          </a:prstGeom>
          <a:noFill/>
        </p:spPr>
        <p:txBody>
          <a:bodyPr wrap="square">
            <a:spAutoFit/>
          </a:bodyPr>
          <a:lstStyle/>
          <a:p>
            <a:pPr>
              <a:spcBef>
                <a:spcPts val="400"/>
              </a:spcBef>
              <a:spcAft>
                <a:spcPts val="200"/>
              </a:spcAft>
            </a:pPr>
            <a:r>
              <a:rPr sz="1300">
                <a:solidFill>
                  <a:srgbClr val="CCCCCC"/>
                </a:solidFill>
                <a:latin typeface="Calibri"/>
              </a:rPr>
              <a:t>• 02D Stacked: MAE=0.918, R²=0.9997, DHR=0.515   |   Best per-stock: MSFT MAE=0.594</a:t>
            </a:r>
          </a:p>
          <a:p>
            <a:pPr>
              <a:spcBef>
                <a:spcPts val="400"/>
              </a:spcBef>
              <a:spcAft>
                <a:spcPts val="200"/>
              </a:spcAft>
            </a:pPr>
            <a:r>
              <a:rPr sz="1300">
                <a:solidFill>
                  <a:srgbClr val="CCCCCC"/>
                </a:solidFill>
                <a:latin typeface="Calibri"/>
              </a:rPr>
              <a:t>• K-Means K=6: Composite=0.577, Sil=0.250  |  Lag-Decay: L*=10, λ*=0.2, Grid-MAE=4.838</a:t>
            </a:r>
          </a:p>
          <a:p>
            <a:pPr>
              <a:spcBef>
                <a:spcPts val="400"/>
              </a:spcBef>
              <a:spcAft>
                <a:spcPts val="200"/>
              </a:spcAft>
            </a:pPr>
            <a:r>
              <a:rPr sz="1300">
                <a:solidFill>
                  <a:srgbClr val="CCCCCC"/>
                </a:solidFill>
                <a:latin typeface="Calibri"/>
              </a:rPr>
              <a:t>• Meta Ridge: Sharpe=8.10, Return=+10.5%, MaxDD=−0.8%, DHR=0.681   |   B&amp;H: Sharpe=6.09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