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core thesis: two implementation designs, one system. Explain this is a deployment-focused ML in finance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business problem and what this deck will prove: not only prediction accuracy but portfolio-level utility.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system-level idea: unsupervised structure feeds supervised learning through cluster-aware information routing.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 Design A as the first core innovation. Highlight sparsity conversion: cluster peers provide signal when direct ticker news is absent.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 Design B as the second core innovation. Emphasize that horizon fusion changes position conviction, not just forecast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Summarize performance on three layers: prediction, structure, and trading. Keep this slide quantitative and fast.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as the institutional validation slide: equity behavior, drawdown control, WFO realism, and IC/ICIR signal diagnostics.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Balance strengths and open risks. This slide demonstrates institutional-grade skepticism and control awareness.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 a credible roadmap. Prioritize what would be done before any real capital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one message: architecture-level coupling of clustering and forecasting is the source of edge, but deployment must remain risk-controlled.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slide to answer detail questions on assumptions, metrics, and robustness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03520"/>
            <a:ext cx="12191695" cy="54864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0"/>
            <a:ext cx="12191695" cy="1371600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Machine Learning in Finance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BBDDFF"/>
                </a:solidFill>
                <a:latin typeface="Calibri"/>
              </a:defRPr>
            </a:pPr>
            <a:r>
              <a:t>Cluster-Aware Sentiment and Multi-Meta Prediction for S&amp;P 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COMP5564 | CHIU Yee Lok (25012923G)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692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AAAAA"/>
                </a:solidFill>
                <a:latin typeface="Calibri"/>
              </a:defRPr>
            </a:pPr>
            <a: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Calibri"/>
              </a:defRPr>
            </a:pPr>
            <a:r>
              <a:t>Problem, Goal, and Presentation Blueprint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5760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2C2C2C"/>
                </a:solidFill>
                <a:latin typeface="Calibri"/>
              </a:defRPr>
            </a:pPr>
            <a:r>
              <a:t>- S&amp;P 500 prediction is nonlinear, noisy, and regime-sensitive.</a:t>
            </a:r>
          </a:p>
          <a:p>
            <a:pPr>
              <a:spcAft>
                <a:spcPts val="300"/>
              </a:spcAft>
              <a:defRPr sz="1600">
                <a:solidFill>
                  <a:srgbClr val="2C2C2C"/>
                </a:solidFill>
                <a:latin typeface="Calibri"/>
              </a:defRPr>
            </a:pPr>
            <a:r>
              <a:t>- Classical econometrics underfits mixed technical + news signals.</a:t>
            </a:r>
          </a:p>
          <a:p>
            <a:pPr>
              <a:spcAft>
                <a:spcPts val="300"/>
              </a:spcAft>
              <a:defRPr sz="1600">
                <a:solidFill>
                  <a:srgbClr val="2C2C2C"/>
                </a:solidFill>
                <a:latin typeface="Calibri"/>
              </a:defRPr>
            </a:pPr>
            <a:r>
              <a:t>- Goal: improve predictive utility and tradable signal quality.</a:t>
            </a:r>
          </a:p>
          <a:p>
            <a:pPr>
              <a:spcAft>
                <a:spcPts val="300"/>
              </a:spcAft>
              <a:defRPr sz="1600">
                <a:solidFill>
                  <a:srgbClr val="2C2C2C"/>
                </a:solidFill>
                <a:latin typeface="Calibri"/>
              </a:defRPr>
            </a:pPr>
            <a:r>
              <a:t>- Scope stock universe: 505 names; focus examples: AAPL, AMZN, GOOG, MSFT, NVDA.</a:t>
            </a:r>
          </a:p>
          <a:p>
            <a:pPr>
              <a:spcAft>
                <a:spcPts val="300"/>
              </a:spcAft>
              <a:defRPr sz="1600">
                <a:solidFill>
                  <a:srgbClr val="2C2C2C"/>
                </a:solidFill>
                <a:latin typeface="Calibri"/>
              </a:defRPr>
            </a:pPr>
            <a:r>
              <a:t>- Strict temporal protocol and lagged features to avoid leakage.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92240" y="1097280"/>
            <a:ext cx="5120640" cy="4114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2801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Talk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828800"/>
            <a:ext cx="4754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- Dual-task architecture</a:t>
            </a:r>
          </a:p>
          <a:p>
            <a:pPr>
              <a:spcAft>
                <a:spcPts val="30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- Implementation A: Cluster News design</a:t>
            </a:r>
          </a:p>
          <a:p>
            <a:pPr>
              <a:spcAft>
                <a:spcPts val="30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- Implementation B: Multi-Meta Prediction design</a:t>
            </a:r>
          </a:p>
          <a:p>
            <a:pPr>
              <a:spcAft>
                <a:spcPts val="30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- Results and robustness checks</a:t>
            </a:r>
          </a:p>
          <a:p>
            <a:pPr>
              <a:spcAft>
                <a:spcPts val="30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- Limitations, controls, and deployment stance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Calibri"/>
              </a:defRPr>
            </a:pPr>
            <a:r>
              <a:t>Dual-Task Architecture: Regression x Clustering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5394960" cy="22860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B3A5C"/>
                </a:solidFill>
                <a:latin typeface="Calibri"/>
              </a:defRPr>
            </a:pPr>
            <a:r>
              <a:t>Task 1: Stock Price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- Predict next-day close with XGBoost.</a:t>
            </a:r>
          </a:p>
          <a:p>
            <a:pPr>
              <a:spcAft>
                <a:spcPts val="30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- Features: technicals, sentiment, volatility, momentum.</a:t>
            </a:r>
          </a:p>
          <a:p>
            <a:pPr>
              <a:spcAft>
                <a:spcPts val="30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- Metrics: MAE, RMSE, R2, directional hit ratio.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097280"/>
            <a:ext cx="5394960" cy="2286000"/>
          </a:xfrm>
          <a:prstGeom prst="rect">
            <a:avLst/>
          </a:prstGeom>
          <a:solidFill>
            <a:srgbClr val="FEF5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1887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D4A01E"/>
                </a:solidFill>
                <a:latin typeface="Calibri"/>
              </a:defRPr>
            </a:pPr>
            <a:r>
              <a:t>Task 2: Stock Clustering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64592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- Cluster 505 stocks by behavior.</a:t>
            </a:r>
          </a:p>
          <a:p>
            <a:pPr>
              <a:spcAft>
                <a:spcPts val="30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- K-Means (K=6) selected by composite score.</a:t>
            </a:r>
          </a:p>
          <a:p>
            <a:pPr>
              <a:spcAft>
                <a:spcPts val="30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- Cluster IDs used as signal routing structure.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0" y="3703320"/>
            <a:ext cx="7132320" cy="54864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3931920"/>
            <a:ext cx="8961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1B3A5C"/>
                </a:solidFill>
                <a:latin typeface="Calibri"/>
              </a:defRPr>
            </a:pPr>
            <a:r>
              <a:t>Coupling insight: clustering is not an appendix. It routes sentiment information into prediction.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Calibri"/>
              </a:defRPr>
            </a:pPr>
            <a:r>
              <a:t>Implementation Design A: Cluster News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56692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>
                <a:solidFill>
                  <a:srgbClr val="2C2C2C"/>
                </a:solidFill>
                <a:latin typeface="Calibri"/>
              </a:defRPr>
            </a:pPr>
            <a:r>
              <a:t>- Problem: direct ticker news is sparse and uneven across names.</a:t>
            </a:r>
          </a:p>
          <a:p>
            <a:pPr>
              <a:spcAft>
                <a:spcPts val="300"/>
              </a:spcAft>
              <a:defRPr sz="1500">
                <a:solidFill>
                  <a:srgbClr val="2C2C2C"/>
                </a:solidFill>
                <a:latin typeface="Calibri"/>
              </a:defRPr>
            </a:pPr>
            <a:r>
              <a:t>- Design: aggregate peer-cluster news when direct news is missing.</a:t>
            </a:r>
          </a:p>
          <a:p>
            <a:pPr>
              <a:spcAft>
                <a:spcPts val="300"/>
              </a:spcAft>
              <a:defRPr sz="1500">
                <a:solidFill>
                  <a:srgbClr val="2C2C2C"/>
                </a:solidFill>
                <a:latin typeface="Calibri"/>
              </a:defRPr>
            </a:pPr>
            <a:r>
              <a:t>- Scoring: semantic similarity x recency decay x source reliability x sentiment polarity.</a:t>
            </a:r>
          </a:p>
          <a:p>
            <a:pPr>
              <a:spcAft>
                <a:spcPts val="300"/>
              </a:spcAft>
              <a:defRPr sz="1500">
                <a:solidFill>
                  <a:srgbClr val="2C2C2C"/>
                </a:solidFill>
                <a:latin typeface="Calibri"/>
              </a:defRPr>
            </a:pPr>
            <a:r>
              <a:t>- Stacked residual design isolates sentiment contribution over price baseline.</a:t>
            </a:r>
          </a:p>
          <a:p>
            <a:pPr>
              <a:spcAft>
                <a:spcPts val="300"/>
              </a:spcAft>
              <a:defRPr sz="1500">
                <a:solidFill>
                  <a:srgbClr val="2C2C2C"/>
                </a:solidFill>
                <a:latin typeface="Calibri"/>
              </a:defRPr>
            </a:pPr>
            <a:r>
              <a:t>- Grid-searched decay remains stable around L=10 and lambda=0.2.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251960"/>
            <a:ext cx="5760720" cy="2103120"/>
          </a:xfrm>
          <a:prstGeom prst="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3891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  <a:latin typeface="Calibri"/>
              </a:defRPr>
            </a:pPr>
            <a:r>
              <a:t>Observed 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46319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2C2C2C"/>
                </a:solidFill>
                <a:latin typeface="Calibri"/>
              </a:defRPr>
            </a:pPr>
            <a:r>
              <a:t>- AMZN MAE down about 47 percent; GOOG MAE down about 46 percent.</a:t>
            </a:r>
          </a:p>
          <a:p>
            <a:pPr>
              <a:spcAft>
                <a:spcPts val="300"/>
              </a:spcAft>
              <a:defRPr sz="1300">
                <a:solidFill>
                  <a:srgbClr val="2C2C2C"/>
                </a:solidFill>
                <a:latin typeface="Calibri"/>
              </a:defRPr>
            </a:pPr>
            <a:r>
              <a:t>- Best stacked run: MAE 0.918, R2 0.999688, DHR 0.515.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86C1"/>
                </a:solidFill>
                <a:latin typeface="Calibri"/>
              </a:defRPr>
            </a:pPr>
            <a:r>
              <a:t>[Missing image: 02D_prediction_vs_actual_close_GOOG.png]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Calibri"/>
              </a:defRPr>
            </a:pPr>
            <a:r>
              <a:t>Implementation Design B: Multi-Meta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56692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>
                <a:solidFill>
                  <a:srgbClr val="2C2C2C"/>
                </a:solidFill>
                <a:latin typeface="Calibri"/>
              </a:defRPr>
            </a:pPr>
            <a:r>
              <a:t>- Problem: single-horizon T+1 forecasts are not portfolio-horizon aware.</a:t>
            </a:r>
          </a:p>
          <a:p>
            <a:pPr>
              <a:spcAft>
                <a:spcPts val="300"/>
              </a:spcAft>
              <a:defRPr sz="1500">
                <a:solidFill>
                  <a:srgbClr val="2C2C2C"/>
                </a:solidFill>
                <a:latin typeface="Calibri"/>
              </a:defRPr>
            </a:pPr>
            <a:r>
              <a:t>- Design: combine T+1, T+5, T+10, T+15 heads through a learned meta layer.</a:t>
            </a:r>
          </a:p>
          <a:p>
            <a:pPr>
              <a:spcAft>
                <a:spcPts val="300"/>
              </a:spcAft>
              <a:defRPr sz="1500">
                <a:solidFill>
                  <a:srgbClr val="2C2C2C"/>
                </a:solidFill>
                <a:latin typeface="Calibri"/>
              </a:defRPr>
            </a:pPr>
            <a:r>
              <a:t>- Meta controls: regime filter, direction agreement, velocity alignment.</a:t>
            </a:r>
          </a:p>
          <a:p>
            <a:pPr>
              <a:spcAft>
                <a:spcPts val="300"/>
              </a:spcAft>
              <a:defRPr sz="1500">
                <a:solidFill>
                  <a:srgbClr val="2C2C2C"/>
                </a:solidFill>
                <a:latin typeface="Calibri"/>
              </a:defRPr>
            </a:pPr>
            <a:r>
              <a:t>- Ridge meta model prioritized for stability; XGB meta as secondary benchmark.</a:t>
            </a:r>
          </a:p>
          <a:p>
            <a:pPr>
              <a:spcAft>
                <a:spcPts val="300"/>
              </a:spcAft>
              <a:defRPr sz="1500">
                <a:solidFill>
                  <a:srgbClr val="2C2C2C"/>
                </a:solidFill>
                <a:latin typeface="Calibri"/>
              </a:defRPr>
            </a:pPr>
            <a:r>
              <a:t>- Outcome: stronger risk-adjusted return with lower drawdown.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097280"/>
            <a:ext cx="5303520" cy="40233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Performance snapshot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82880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2C2C2C"/>
                </a:solidFill>
                <a:latin typeface="Calibri"/>
              </a:defRPr>
            </a:pPr>
            <a:r>
              <a:t>- Learned Meta Ridge: Sharpe 8.10, Return +10.5 percent, MaxDD -0.8 percent, DHR 0.681.</a:t>
            </a:r>
          </a:p>
          <a:p>
            <a:pPr>
              <a:spcAft>
                <a:spcPts val="300"/>
              </a:spcAft>
              <a:defRPr sz="1300">
                <a:solidFill>
                  <a:srgbClr val="2C2C2C"/>
                </a:solidFill>
                <a:latin typeface="Calibri"/>
              </a:defRPr>
            </a:pPr>
            <a:r>
              <a:t>- Learned Meta XGB: Sharpe 4.72, Return +6.5 percent.</a:t>
            </a:r>
          </a:p>
          <a:p>
            <a:pPr>
              <a:spcAft>
                <a:spcPts val="300"/>
              </a:spcAft>
              <a:defRPr sz="1300">
                <a:solidFill>
                  <a:srgbClr val="2C2C2C"/>
                </a:solidFill>
                <a:latin typeface="Calibri"/>
              </a:defRPr>
            </a:pPr>
            <a:r>
              <a:t>- Buy-and-Hold baseline: Sharpe 6.09, Return +8.2 percent.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9768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3A5C"/>
                </a:solidFill>
                <a:latin typeface="Calibri"/>
              </a:defRPr>
            </a:pPr>
            <a:r>
              <a:t>Interpretation: long-horizon heads provide regime confidence to modulate short-horizon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Calibri"/>
              </a:defRPr>
            </a:pPr>
            <a:r>
              <a:t>Core Empirical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3566160" cy="32918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3200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2C2C2C"/>
                </a:solidFill>
                <a:latin typeface="Calibri"/>
              </a:defRPr>
            </a:pPr>
            <a:r>
              <a:t>- XGBoost selected over deep models.</a:t>
            </a:r>
          </a:p>
          <a:p>
            <a:pPr>
              <a:spcAft>
                <a:spcPts val="300"/>
              </a:spcAft>
              <a:defRPr sz="1300">
                <a:solidFill>
                  <a:srgbClr val="2C2C2C"/>
                </a:solidFill>
                <a:latin typeface="Calibri"/>
              </a:defRPr>
            </a:pPr>
            <a:r>
              <a:t>- Stacked MAE 0.918.</a:t>
            </a:r>
          </a:p>
          <a:p>
            <a:pPr>
              <a:spcAft>
                <a:spcPts val="300"/>
              </a:spcAft>
              <a:defRPr sz="1300">
                <a:solidFill>
                  <a:srgbClr val="2C2C2C"/>
                </a:solidFill>
                <a:latin typeface="Calibri"/>
              </a:defRPr>
            </a:pPr>
            <a:r>
              <a:t>- R2 0.999688.</a:t>
            </a:r>
          </a:p>
          <a:p>
            <a:pPr>
              <a:spcAft>
                <a:spcPts val="300"/>
              </a:spcAft>
              <a:defRPr sz="1300">
                <a:solidFill>
                  <a:srgbClr val="2C2C2C"/>
                </a:solidFill>
                <a:latin typeface="Calibri"/>
              </a:defRPr>
            </a:pPr>
            <a:r>
              <a:t>- DHR 0.515.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097280"/>
            <a:ext cx="3566160" cy="3291840"/>
          </a:xfrm>
          <a:prstGeom prst="rect">
            <a:avLst/>
          </a:prstGeom>
          <a:solidFill>
            <a:srgbClr val="FEF5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188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01E"/>
                </a:solidFill>
                <a:latin typeface="Calibri"/>
              </a:defRPr>
            </a:pPr>
            <a:r>
              <a:t>Clustering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645920"/>
            <a:ext cx="3200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2C2C2C"/>
                </a:solidFill>
                <a:latin typeface="Calibri"/>
              </a:defRPr>
            </a:pPr>
            <a:r>
              <a:t>- K-Means chosen at K=6.</a:t>
            </a:r>
          </a:p>
          <a:p>
            <a:pPr>
              <a:spcAft>
                <a:spcPts val="300"/>
              </a:spcAft>
              <a:defRPr sz="1300">
                <a:solidFill>
                  <a:srgbClr val="2C2C2C"/>
                </a:solidFill>
                <a:latin typeface="Calibri"/>
              </a:defRPr>
            </a:pPr>
            <a:r>
              <a:t>- Composite score 0.577.</a:t>
            </a:r>
          </a:p>
          <a:p>
            <a:pPr>
              <a:spcAft>
                <a:spcPts val="300"/>
              </a:spcAft>
              <a:defRPr sz="1300">
                <a:solidFill>
                  <a:srgbClr val="2C2C2C"/>
                </a:solidFill>
                <a:latin typeface="Calibri"/>
              </a:defRPr>
            </a:pPr>
            <a:r>
              <a:t>- Silhouette 0.250.</a:t>
            </a:r>
          </a:p>
          <a:p>
            <a:pPr>
              <a:spcAft>
                <a:spcPts val="300"/>
              </a:spcAft>
              <a:defRPr sz="1300">
                <a:solidFill>
                  <a:srgbClr val="2C2C2C"/>
                </a:solidFill>
                <a:latin typeface="Calibri"/>
              </a:defRPr>
            </a:pPr>
            <a:r>
              <a:t>- Zero noise ratio.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21040" y="1097280"/>
            <a:ext cx="3566160" cy="3291840"/>
          </a:xfrm>
          <a:prstGeom prst="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1188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  <a:latin typeface="Calibri"/>
              </a:defRPr>
            </a:pPr>
            <a:r>
              <a:t>Trading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1645920"/>
            <a:ext cx="3200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2C2C2C"/>
                </a:solidFill>
                <a:latin typeface="Calibri"/>
              </a:defRPr>
            </a:pPr>
            <a:r>
              <a:t>- Meta Ridge Sharpe 8.10.</a:t>
            </a:r>
          </a:p>
          <a:p>
            <a:pPr>
              <a:spcAft>
                <a:spcPts val="300"/>
              </a:spcAft>
              <a:defRPr sz="1300">
                <a:solidFill>
                  <a:srgbClr val="2C2C2C"/>
                </a:solidFill>
                <a:latin typeface="Calibri"/>
              </a:defRPr>
            </a:pPr>
            <a:r>
              <a:t>- Return +10.5 percent.</a:t>
            </a:r>
          </a:p>
          <a:p>
            <a:pPr>
              <a:spcAft>
                <a:spcPts val="300"/>
              </a:spcAft>
              <a:defRPr sz="1300">
                <a:solidFill>
                  <a:srgbClr val="2C2C2C"/>
                </a:solidFill>
                <a:latin typeface="Calibri"/>
              </a:defRPr>
            </a:pPr>
            <a:r>
              <a:t>- Max drawdown -0.8 percent.</a:t>
            </a:r>
          </a:p>
          <a:p>
            <a:pPr>
              <a:spcAft>
                <a:spcPts val="300"/>
              </a:spcAft>
              <a:defRPr sz="1300">
                <a:solidFill>
                  <a:srgbClr val="2C2C2C"/>
                </a:solidFill>
                <a:latin typeface="Calibri"/>
              </a:defRPr>
            </a:pPr>
            <a:r>
              <a:t>- Outperforms buy-and-hold.</a:t>
            </a:r>
          </a:p>
        </p:txBody>
      </p:sp>
      <p:pic>
        <p:nvPicPr>
          <p:cNvPr id="14" name="Picture 13" descr="03A_02_p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663440"/>
            <a:ext cx="5577840" cy="4204269"/>
          </a:xfrm>
          <a:prstGeom prst="rect">
            <a:avLst/>
          </a:prstGeom>
        </p:spPr>
      </p:pic>
      <p:pic>
        <p:nvPicPr>
          <p:cNvPr id="15" name="Picture 14" descr="03_regression_metric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663440"/>
            <a:ext cx="5486400" cy="392187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Calibri"/>
              </a:defRPr>
            </a:pPr>
            <a:r>
              <a:t>Trading Behavior, WFO Validation, and Alpha Diagnostics</a:t>
            </a:r>
          </a:p>
        </p:txBody>
      </p:sp>
      <p:pic>
        <p:nvPicPr>
          <p:cNvPr id="5" name="Picture 4" descr="02F_01_cumulative_retu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486400" cy="2162612"/>
          </a:xfrm>
          <a:prstGeom prst="rect">
            <a:avLst/>
          </a:prstGeom>
        </p:spPr>
      </p:pic>
      <p:pic>
        <p:nvPicPr>
          <p:cNvPr id="6" name="Picture 5" descr="02F_02_draw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486400" cy="179705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4754880"/>
            <a:ext cx="11247120" cy="1645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2C2C2C"/>
                </a:solidFill>
                <a:latin typeface="Calibri"/>
              </a:defRPr>
            </a:pPr>
            <a:r>
              <a:t>- WFO comparison added to prevent fixed-split optimism in final reporting.</a:t>
            </a:r>
          </a:p>
          <a:p>
            <a:pPr>
              <a:spcAft>
                <a:spcPts val="300"/>
              </a:spcAft>
              <a:defRPr sz="1300">
                <a:solidFill>
                  <a:srgbClr val="2C2C2C"/>
                </a:solidFill>
                <a:latin typeface="Calibri"/>
              </a:defRPr>
            </a:pPr>
            <a:r>
              <a:t>- IC and ICIR diagnostics included for cross-sectional stock-selection signal quality.</a:t>
            </a:r>
          </a:p>
          <a:p>
            <a:pPr>
              <a:spcAft>
                <a:spcPts val="300"/>
              </a:spcAft>
              <a:defRPr sz="1300">
                <a:solidFill>
                  <a:srgbClr val="2C2C2C"/>
                </a:solidFill>
                <a:latin typeface="Calibri"/>
              </a:defRPr>
            </a:pPr>
            <a:r>
              <a:t>- Primary interpretation remains conservative until larger and multi-regime OOS confirms stability.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Calibri"/>
              </a:defRPr>
            </a:pPr>
            <a:r>
              <a:t>Controls, Auditability, and Governance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5577840" cy="51206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B3A5C"/>
                </a:solidFill>
                <a:latin typeface="Calibri"/>
              </a:defRPr>
            </a:pPr>
            <a:r>
              <a:t>Implemented controls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- Temporal split and lag enforcement to prevent look-ahead leakage.</a:t>
            </a:r>
          </a:p>
          <a:p>
            <a:pPr>
              <a:spcAft>
                <a:spcPts val="30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- Model comparison under shared protocol, not cherry-picked runs.</a:t>
            </a:r>
          </a:p>
          <a:p>
            <a:pPr>
              <a:spcAft>
                <a:spcPts val="30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- Feature and strategy diagnostics documented in notebook outputs.</a:t>
            </a:r>
          </a:p>
          <a:p>
            <a:pPr>
              <a:spcAft>
                <a:spcPts val="30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- WFO and uncertainty framing integrated into report narrative.</a:t>
            </a:r>
          </a:p>
          <a:p>
            <a:pPr>
              <a:spcAft>
                <a:spcPts val="30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- Benchmark comparison includes passive baseline and risk metrics.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097280"/>
            <a:ext cx="5394960" cy="5120640"/>
          </a:xfrm>
          <a:prstGeom prst="rect">
            <a:avLst/>
          </a:prstGeom>
          <a:solidFill>
            <a:srgbClr val="FEF5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D4A01E"/>
                </a:solidFill>
                <a:latin typeface="Calibri"/>
              </a:defRPr>
            </a:pPr>
            <a:r>
              <a:t>Remaining risks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- No explicit slippage and impact model in current backtest.</a:t>
            </a:r>
          </a:p>
          <a:p>
            <a:pPr>
              <a:spcAft>
                <a:spcPts val="30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- Static cluster topology may drift across regimes.</a:t>
            </a:r>
          </a:p>
          <a:p>
            <a:pPr>
              <a:spcAft>
                <a:spcPts val="30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- Current OOS horizon is still limited for production confidence.</a:t>
            </a:r>
          </a:p>
          <a:p>
            <a:pPr>
              <a:spcAft>
                <a:spcPts val="30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- Headline coverage quality varies by source and stock.</a:t>
            </a:r>
          </a:p>
          <a:p>
            <a:pPr>
              <a:spcAft>
                <a:spcPts val="30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- Further stress testing needed for bear and shock windows.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Calibri"/>
              </a:defRPr>
            </a:pPr>
            <a:r>
              <a:t>Limitations and Next Iteration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11556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2C2C2C"/>
                </a:solidFill>
                <a:latin typeface="Calibri"/>
              </a:defRPr>
            </a:pPr>
            <a:r>
              <a:t>- Current portfolio simulation excludes full transaction cost stack and market impact.</a:t>
            </a:r>
          </a:p>
          <a:p>
            <a:pPr>
              <a:spcAft>
                <a:spcPts val="300"/>
              </a:spcAft>
              <a:defRPr sz="1600">
                <a:solidFill>
                  <a:srgbClr val="2C2C2C"/>
                </a:solidFill>
                <a:latin typeface="Calibri"/>
              </a:defRPr>
            </a:pPr>
            <a:r>
              <a:t>- Cluster structure is static; no online updating mechanism yet.</a:t>
            </a:r>
          </a:p>
          <a:p>
            <a:pPr>
              <a:spcAft>
                <a:spcPts val="300"/>
              </a:spcAft>
              <a:defRPr sz="1600">
                <a:solidFill>
                  <a:srgbClr val="2C2C2C"/>
                </a:solidFill>
                <a:latin typeface="Calibri"/>
              </a:defRPr>
            </a:pPr>
            <a:r>
              <a:t>- Model confidence is point-estimate heavy; interval prediction is limited.</a:t>
            </a:r>
          </a:p>
          <a:p>
            <a:pPr>
              <a:spcAft>
                <a:spcPts val="300"/>
              </a:spcAft>
              <a:defRPr sz="1600">
                <a:solidFill>
                  <a:srgbClr val="2C2C2C"/>
                </a:solidFill>
                <a:latin typeface="Calibri"/>
              </a:defRPr>
            </a:pPr>
            <a:r>
              <a:t>- Validation breadth should expand with longer OOS and additional market regimes.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749040"/>
            <a:ext cx="11247120" cy="2560320"/>
          </a:xfrm>
          <a:prstGeom prst="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931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7AE60"/>
                </a:solidFill>
                <a:latin typeface="Calibri"/>
              </a:defRPr>
            </a:pPr>
            <a:r>
              <a:t>Next iteration priorities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80560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- Dynamic clustering with rolling updates and drift monitoring.</a:t>
            </a:r>
          </a:p>
          <a:p>
            <a:pPr>
              <a:spcAft>
                <a:spcPts val="30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- Cost-aware backtesting with slippage, commissions, and liquidity penalties.</a:t>
            </a:r>
          </a:p>
          <a:p>
            <a:pPr>
              <a:spcAft>
                <a:spcPts val="30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- Uncertainty-aware position sizing using prediction intervals.</a:t>
            </a:r>
          </a:p>
          <a:p>
            <a:pPr>
              <a:spcAft>
                <a:spcPts val="30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- Regime-conditioned retraining cadence and model governance checkpoints.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2743200" cy="36576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900">
                <a:solidFill>
                  <a:srgbClr val="FFFFFF"/>
                </a:solidFill>
                <a:latin typeface="Calibri"/>
              </a:defRPr>
            </a:pPr>
            <a:r>
              <a:t>- Design A (Cluster News) improves information coverage under sparse news conditions.</a:t>
            </a:r>
          </a:p>
          <a:p>
            <a:pPr>
              <a:spcAft>
                <a:spcPts val="300"/>
              </a:spcAft>
              <a:defRPr sz="1900">
                <a:solidFill>
                  <a:srgbClr val="FFFFFF"/>
                </a:solidFill>
                <a:latin typeface="Calibri"/>
              </a:defRPr>
            </a:pPr>
            <a:r>
              <a:t>- Design B (Multi-Meta Prediction) improves risk-adjusted trading outcomes.</a:t>
            </a:r>
          </a:p>
          <a:p>
            <a:pPr>
              <a:spcAft>
                <a:spcPts val="300"/>
              </a:spcAft>
              <a:defRPr sz="1900">
                <a:solidFill>
                  <a:srgbClr val="FFFFFF"/>
                </a:solidFill>
                <a:latin typeface="Calibri"/>
              </a:defRPr>
            </a:pPr>
            <a:r>
              <a:t>- Combined system delivers gains in both predictive and deployment-facing metrics.</a:t>
            </a:r>
          </a:p>
          <a:p>
            <a:pPr>
              <a:spcAft>
                <a:spcPts val="300"/>
              </a:spcAft>
              <a:defRPr sz="1900">
                <a:solidFill>
                  <a:srgbClr val="FFFFFF"/>
                </a:solidFill>
                <a:latin typeface="Calibri"/>
              </a:defRPr>
            </a:pPr>
            <a:r>
              <a:t>- Evidence is promising, but deployment recommendation remains controlled and staged.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5212080"/>
            <a:ext cx="10789920" cy="1005840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4406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3A5C"/>
                </a:solidFill>
                <a:latin typeface="Calibri"/>
              </a:defRPr>
            </a:pPr>
            <a:r>
              <a:t>Core thesis: clustering serves as a structural signal router, not only an unsupervised analysis block.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2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64592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Thank You - Q&amp;A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3017520"/>
            <a:ext cx="2926080" cy="36576"/>
          </a:xfrm>
          <a:prstGeom prst="rect">
            <a:avLst/>
          </a:prstGeom>
          <a:solidFill>
            <a:srgbClr val="D4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4A01E"/>
                </a:solidFill>
                <a:latin typeface="Calibri"/>
              </a:defRPr>
            </a:pPr>
            <a:r>
              <a:t>Backup metrics for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97680"/>
            <a:ext cx="9966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CCCCCC"/>
                </a:solidFill>
                <a:latin typeface="Calibri"/>
              </a:defRPr>
            </a:pPr>
            <a:r>
              <a:t>- Regression: MAE 0.918, R2 0.999688, DHR 0.515.</a:t>
            </a:r>
          </a:p>
          <a:p>
            <a:pPr>
              <a:spcAft>
                <a:spcPts val="300"/>
              </a:spcAft>
              <a:defRPr sz="1400">
                <a:solidFill>
                  <a:srgbClr val="CCCCCC"/>
                </a:solidFill>
                <a:latin typeface="Calibri"/>
              </a:defRPr>
            </a:pPr>
            <a:r>
              <a:t>- Clustering: K-Means K=6, composite 0.577, zero noise ratio.</a:t>
            </a:r>
          </a:p>
          <a:p>
            <a:pPr>
              <a:spcAft>
                <a:spcPts val="300"/>
              </a:spcAft>
              <a:defRPr sz="1400">
                <a:solidFill>
                  <a:srgbClr val="CCCCCC"/>
                </a:solidFill>
                <a:latin typeface="Calibri"/>
              </a:defRPr>
            </a:pPr>
            <a:r>
              <a:t>- Trading: Meta Ridge Sharpe 8.10, return +10.5 percent, max drawdown -0.8 percent.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